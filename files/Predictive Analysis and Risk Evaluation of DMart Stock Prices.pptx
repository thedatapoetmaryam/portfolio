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Brixton Sans" panose="020B0604020202020204" charset="0"/>
      <p:regular r:id="rId31"/>
    </p:embeddedFont>
    <p:embeddedFont>
      <p:font typeface="Brixton Sans Bold" panose="020B0604020202020204" charset="0"/>
      <p:regular r:id="rId32"/>
    </p:embeddedFont>
    <p:embeddedFont>
      <p:font typeface="Cinzel Decorative" panose="020B0604020202020204" charset="0"/>
      <p:regular r:id="rId33"/>
    </p:embeddedFont>
    <p:embeddedFont>
      <p:font typeface="Cinzel Decorative Bold" panose="020B0604020202020204" charset="0"/>
      <p:regular r:id="rId34"/>
    </p:embeddedFont>
    <p:embeddedFont>
      <p:font typeface="Lora" pitchFamily="2" charset="0"/>
      <p:regular r:id="rId35"/>
    </p:embeddedFont>
    <p:embeddedFont>
      <p:font typeface="Lora Bold" panose="020B0604020202020204" charset="0"/>
      <p:regular r:id="rId36"/>
    </p:embeddedFont>
    <p:embeddedFont>
      <p:font typeface="Parisienne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package" Target="../embeddings/Microsoft_Excel_Worksheet.xlsx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6.png"/><Relationship Id="rId5" Type="http://schemas.openxmlformats.org/officeDocument/2006/relationships/image" Target="../media/image55.jpe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56.png"/><Relationship Id="rId5" Type="http://schemas.openxmlformats.org/officeDocument/2006/relationships/image" Target="../media/image57.jpe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sv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58057" y="-920399"/>
            <a:ext cx="21598179" cy="12683774"/>
            <a:chOff x="0" y="0"/>
            <a:chExt cx="28797573" cy="16911698"/>
          </a:xfrm>
        </p:grpSpPr>
        <p:sp>
          <p:nvSpPr>
            <p:cNvPr id="3" name="Freeform 3"/>
            <p:cNvSpPr/>
            <p:nvPr/>
          </p:nvSpPr>
          <p:spPr>
            <a:xfrm>
              <a:off x="7156773" y="0"/>
              <a:ext cx="21640800" cy="4747451"/>
            </a:xfrm>
            <a:custGeom>
              <a:avLst/>
              <a:gdLst/>
              <a:ahLst/>
              <a:cxnLst/>
              <a:rect l="l" t="t" r="r" b="b"/>
              <a:pathLst>
                <a:path w="21640800" h="4747451">
                  <a:moveTo>
                    <a:pt x="0" y="0"/>
                  </a:moveTo>
                  <a:lnTo>
                    <a:pt x="21640800" y="0"/>
                  </a:lnTo>
                  <a:lnTo>
                    <a:pt x="21640800" y="4747451"/>
                  </a:lnTo>
                  <a:lnTo>
                    <a:pt x="0" y="4747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998042" y="1214498"/>
              <a:ext cx="24409400" cy="1244600"/>
              <a:chOff x="0" y="0"/>
              <a:chExt cx="24409400" cy="1244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6" name="Freeform 6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9954716" y="5192774"/>
              <a:ext cx="6496050" cy="6016622"/>
              <a:chOff x="0" y="0"/>
              <a:chExt cx="6496050" cy="601662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3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18231942" y="14168498"/>
              <a:ext cx="5486400" cy="730250"/>
              <a:chOff x="0" y="0"/>
              <a:chExt cx="5486400" cy="7302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1</a:t>
                </a:r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3488334" y="6307377"/>
              <a:ext cx="11906408" cy="8226246"/>
            </a:xfrm>
            <a:custGeom>
              <a:avLst/>
              <a:gdLst/>
              <a:ahLst/>
              <a:cxnLst/>
              <a:rect l="l" t="t" r="r" b="b"/>
              <a:pathLst>
                <a:path w="11906408" h="8226246">
                  <a:moveTo>
                    <a:pt x="0" y="0"/>
                  </a:moveTo>
                  <a:lnTo>
                    <a:pt x="11906408" y="0"/>
                  </a:lnTo>
                  <a:lnTo>
                    <a:pt x="11906408" y="8226246"/>
                  </a:lnTo>
                  <a:lnTo>
                    <a:pt x="0" y="8226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355865" y="8720339"/>
              <a:ext cx="2325112" cy="346653"/>
            </a:xfrm>
            <a:custGeom>
              <a:avLst/>
              <a:gdLst/>
              <a:ahLst/>
              <a:cxnLst/>
              <a:rect l="l" t="t" r="r" b="b"/>
              <a:pathLst>
                <a:path w="2325112" h="346653">
                  <a:moveTo>
                    <a:pt x="0" y="0"/>
                  </a:moveTo>
                  <a:lnTo>
                    <a:pt x="2325112" y="0"/>
                  </a:lnTo>
                  <a:lnTo>
                    <a:pt x="2325112" y="346653"/>
                  </a:lnTo>
                  <a:lnTo>
                    <a:pt x="0" y="346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1355865" y="4718875"/>
              <a:ext cx="14157886" cy="24474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190"/>
                </a:lnSpc>
                <a:spcBef>
                  <a:spcPct val="0"/>
                </a:spcBef>
              </a:pPr>
              <a:r>
                <a:rPr lang="en-US" sz="5991" b="1" spc="-131">
                  <a:solidFill>
                    <a:srgbClr val="C1121F"/>
                  </a:solidFill>
                  <a:latin typeface="Brixton Sans Bold"/>
                  <a:ea typeface="Brixton Sans Bold"/>
                  <a:cs typeface="Brixton Sans Bold"/>
                  <a:sym typeface="Brixton Sans Bold"/>
                </a:rPr>
                <a:t>Predictive Analysis and Risk Evaluation of DMart Stock Prices: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55865" y="7243670"/>
              <a:ext cx="8147010" cy="1005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22"/>
                </a:lnSpc>
                <a:spcBef>
                  <a:spcPct val="0"/>
                </a:spcBef>
              </a:pPr>
              <a:r>
                <a:rPr lang="en-US" sz="2518" spc="-55">
                  <a:solidFill>
                    <a:srgbClr val="00BF63"/>
                  </a:solidFill>
                  <a:latin typeface="Parisienne"/>
                  <a:ea typeface="Parisienne"/>
                  <a:cs typeface="Parisienne"/>
                  <a:sym typeface="Parisienne"/>
                </a:rPr>
                <a:t>From Price Movements to Risk Sensitivity: A Comprehensive Study on DMart: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247891" y="9066992"/>
              <a:ext cx="11244851" cy="3049073"/>
            </a:xfrm>
            <a:custGeom>
              <a:avLst/>
              <a:gdLst/>
              <a:ahLst/>
              <a:cxnLst/>
              <a:rect l="l" t="t" r="r" b="b"/>
              <a:pathLst>
                <a:path w="11244851" h="3049073">
                  <a:moveTo>
                    <a:pt x="0" y="0"/>
                  </a:moveTo>
                  <a:lnTo>
                    <a:pt x="11244851" y="0"/>
                  </a:lnTo>
                  <a:lnTo>
                    <a:pt x="11244851" y="3049073"/>
                  </a:lnTo>
                  <a:lnTo>
                    <a:pt x="0" y="3049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427" b="-142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3480030" y="9816829"/>
              <a:ext cx="8589948" cy="154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spc="-42">
                  <a:solidFill>
                    <a:srgbClr val="116E41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rPr>
                <a:t>Presented BY:</a:t>
              </a:r>
            </a:p>
            <a:p>
              <a:pPr algn="l">
                <a:lnSpc>
                  <a:spcPts val="4319"/>
                </a:lnSpc>
              </a:pPr>
              <a:r>
                <a:rPr lang="en-US" sz="3599" spc="-75">
                  <a:solidFill>
                    <a:srgbClr val="C00110"/>
                  </a:solidFill>
                  <a:latin typeface="Brixton Sans"/>
                  <a:ea typeface="Brixton Sans"/>
                  <a:cs typeface="Brixton Sans"/>
                  <a:sym typeface="Brixton Sans"/>
                </a:rPr>
                <a:t>SHAIKH MARYAM ALIMUDDIN.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 spc="-46">
                  <a:solidFill>
                    <a:srgbClr val="C00110"/>
                  </a:solidFill>
                  <a:latin typeface="Brixton Sans"/>
                  <a:ea typeface="Brixton Sans"/>
                  <a:cs typeface="Brixton Sans"/>
                  <a:sym typeface="Brixton Sans"/>
                </a:rPr>
                <a:t>MSc Applied Statistics - MSAS116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998042" y="14806691"/>
              <a:ext cx="24396700" cy="237892"/>
              <a:chOff x="0" y="0"/>
              <a:chExt cx="4819101" cy="4699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47476" tIns="47476" rIns="47476" bIns="47476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0" y="11425298"/>
              <a:ext cx="7757121" cy="5486400"/>
            </a:xfrm>
            <a:custGeom>
              <a:avLst/>
              <a:gdLst/>
              <a:ahLst/>
              <a:cxnLst/>
              <a:rect l="l" t="t" r="r" b="b"/>
              <a:pathLst>
                <a:path w="7757121" h="5486400">
                  <a:moveTo>
                    <a:pt x="0" y="0"/>
                  </a:moveTo>
                  <a:lnTo>
                    <a:pt x="7757121" y="0"/>
                  </a:lnTo>
                  <a:lnTo>
                    <a:pt x="7757121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28575"/>
            <a:ext cx="18307050" cy="10391613"/>
            <a:chOff x="0" y="0"/>
            <a:chExt cx="24409400" cy="1385548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2540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56674" y="40036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7233900" y="12979400"/>
              <a:ext cx="5486400" cy="730250"/>
              <a:chOff x="0" y="0"/>
              <a:chExt cx="54864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3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3617593"/>
              <a:ext cx="24396700" cy="237892"/>
              <a:chOff x="0" y="0"/>
              <a:chExt cx="4819101" cy="4699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7469474" y="12576768"/>
              <a:ext cx="1928025" cy="1072683"/>
            </a:xfrm>
            <a:custGeom>
              <a:avLst/>
              <a:gdLst/>
              <a:ahLst/>
              <a:cxnLst/>
              <a:rect l="l" t="t" r="r" b="b"/>
              <a:pathLst>
                <a:path w="1928025" h="1072683">
                  <a:moveTo>
                    <a:pt x="0" y="0"/>
                  </a:moveTo>
                  <a:lnTo>
                    <a:pt x="1928025" y="0"/>
                  </a:lnTo>
                  <a:lnTo>
                    <a:pt x="1928025" y="1072683"/>
                  </a:lnTo>
                  <a:lnTo>
                    <a:pt x="0" y="1072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20382600" y="10020298"/>
              <a:ext cx="4026800" cy="3629153"/>
            </a:xfrm>
            <a:custGeom>
              <a:avLst/>
              <a:gdLst/>
              <a:ahLst/>
              <a:cxnLst/>
              <a:rect l="l" t="t" r="r" b="b"/>
              <a:pathLst>
                <a:path w="4026800" h="3629153">
                  <a:moveTo>
                    <a:pt x="0" y="0"/>
                  </a:moveTo>
                  <a:lnTo>
                    <a:pt x="4026800" y="0"/>
                  </a:lnTo>
                  <a:lnTo>
                    <a:pt x="4026800" y="3629153"/>
                  </a:lnTo>
                  <a:lnTo>
                    <a:pt x="0" y="3629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6851785" y="13080161"/>
              <a:ext cx="617688" cy="528729"/>
            </a:xfrm>
            <a:custGeom>
              <a:avLst/>
              <a:gdLst/>
              <a:ahLst/>
              <a:cxnLst/>
              <a:rect l="l" t="t" r="r" b="b"/>
              <a:pathLst>
                <a:path w="617688" h="528729">
                  <a:moveTo>
                    <a:pt x="0" y="0"/>
                  </a:moveTo>
                  <a:lnTo>
                    <a:pt x="617689" y="0"/>
                  </a:lnTo>
                  <a:lnTo>
                    <a:pt x="617689" y="528728"/>
                  </a:lnTo>
                  <a:lnTo>
                    <a:pt x="0" y="528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376" b="-2376"/>
              </a:stretch>
            </a:blipFill>
          </p:spPr>
        </p:sp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226963" y="0"/>
              <a:ext cx="1544731" cy="1244600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1384300" y="1409700"/>
              <a:ext cx="9702800" cy="11285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20" dirty="0" err="1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DMart</a:t>
              </a:r>
              <a:r>
                <a:rPr lang="en-US" sz="5499" b="1" spc="-120" dirty="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 &amp; NIFTY 50: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4300" y="3463925"/>
              <a:ext cx="19360060" cy="1323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just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2F0000"/>
                  </a:solidFill>
                  <a:latin typeface="Lora"/>
                  <a:ea typeface="Lora"/>
                  <a:cs typeface="Lora"/>
                  <a:sym typeface="Lora"/>
                </a:rPr>
                <a:t>It represents the top 50 companies listed on the NSE.</a:t>
              </a:r>
            </a:p>
            <a:p>
              <a:pPr marL="474979" lvl="1" indent="-237490" algn="just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2F0000"/>
                  </a:solidFill>
                  <a:latin typeface="Lora"/>
                  <a:ea typeface="Lora"/>
                  <a:cs typeface="Lora"/>
                  <a:sym typeface="Lora"/>
                </a:rPr>
                <a:t>Similar to Sensex, Nifty serves as a benchmark for tracking the performance of the Indian stock market but with 50 companies.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4300" y="2679700"/>
              <a:ext cx="3482093" cy="609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65" dirty="0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What is Nifty?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84300" y="5727700"/>
              <a:ext cx="8165783" cy="609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 spc="-65">
                  <a:solidFill>
                    <a:srgbClr val="2F0000"/>
                  </a:solidFill>
                  <a:latin typeface="Lora Bold"/>
                  <a:ea typeface="Lora Bold"/>
                  <a:cs typeface="Lora Bold"/>
                  <a:sym typeface="Lora Bold"/>
                </a:rPr>
                <a:t>What is Avenue Supermarts Ltd.?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84300" y="7731125"/>
              <a:ext cx="3086933" cy="587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spc="-65">
                  <a:solidFill>
                    <a:srgbClr val="2F0000"/>
                  </a:solidFill>
                  <a:latin typeface="Lora Bold"/>
                  <a:ea typeface="Lora Bold"/>
                  <a:cs typeface="Lora Bold"/>
                  <a:sym typeface="Lora Bold"/>
                </a:rPr>
                <a:t>Why DMart?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84300" y="8467725"/>
              <a:ext cx="16085174" cy="1768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8" lvl="1" indent="-237489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2F0000"/>
                  </a:solidFill>
                  <a:latin typeface="Lora"/>
                  <a:ea typeface="Lora"/>
                  <a:cs typeface="Lora"/>
                  <a:sym typeface="Lora"/>
                </a:rPr>
                <a:t>Retail superstar: Dominates Indian grocery &amp; essentials market 🛒</a:t>
              </a:r>
            </a:p>
            <a:p>
              <a:pPr marL="474978" lvl="1" indent="-237489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2F0000"/>
                  </a:solidFill>
                  <a:latin typeface="Lora"/>
                  <a:ea typeface="Lora"/>
                  <a:cs typeface="Lora"/>
                  <a:sym typeface="Lora"/>
                </a:rPr>
                <a:t>Consistent performer: Strong growth even during market hiccups 📈</a:t>
              </a:r>
            </a:p>
            <a:p>
              <a:pPr marL="474978" lvl="1" indent="-237489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2F0000"/>
                  </a:solidFill>
                  <a:latin typeface="Lora"/>
                  <a:ea typeface="Lora"/>
                  <a:cs typeface="Lora"/>
                  <a:sym typeface="Lora"/>
                </a:rPr>
                <a:t>Defensive stock vibes: Protects investments when markets get wild ⚡</a:t>
              </a:r>
            </a:p>
            <a:p>
              <a:pPr marL="474978" lvl="1" indent="-237489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2F0000"/>
                  </a:solidFill>
                  <a:latin typeface="Lora"/>
                  <a:ea typeface="Lora"/>
                  <a:cs typeface="Lora"/>
                  <a:sym typeface="Lora"/>
                </a:rPr>
                <a:t>Sudden Dip Alert: Despite its past bullish trend, </a:t>
              </a:r>
              <a:r>
                <a:rPr lang="en-US" sz="2199" spc="116" dirty="0" err="1">
                  <a:solidFill>
                    <a:srgbClr val="2F0000"/>
                  </a:solidFill>
                  <a:latin typeface="Lora"/>
                  <a:ea typeface="Lora"/>
                  <a:cs typeface="Lora"/>
                  <a:sym typeface="Lora"/>
                </a:rPr>
                <a:t>DMart</a:t>
              </a:r>
              <a:r>
                <a:rPr lang="en-US" sz="2199" spc="116" dirty="0">
                  <a:solidFill>
                    <a:srgbClr val="2F0000"/>
                  </a:solidFill>
                  <a:latin typeface="Lora"/>
                  <a:ea typeface="Lora"/>
                  <a:cs typeface="Lora"/>
                  <a:sym typeface="Lora"/>
                </a:rPr>
                <a:t> recently went bearish 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84300" y="6346825"/>
              <a:ext cx="7572374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Dmart Leading retail chain in India.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9525"/>
            <a:ext cx="18307050" cy="10372563"/>
            <a:chOff x="0" y="0"/>
            <a:chExt cx="24409400" cy="1383008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56674" y="39782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0" y="13592193"/>
              <a:ext cx="24396700" cy="237892"/>
              <a:chOff x="0" y="0"/>
              <a:chExt cx="4819101" cy="4699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1822898" y="3489261"/>
              <a:ext cx="7709213" cy="9464739"/>
            </a:xfrm>
            <a:custGeom>
              <a:avLst/>
              <a:gdLst/>
              <a:ahLst/>
              <a:cxnLst/>
              <a:rect l="l" t="t" r="r" b="b"/>
              <a:pathLst>
                <a:path w="7709213" h="9464739">
                  <a:moveTo>
                    <a:pt x="0" y="0"/>
                  </a:moveTo>
                  <a:lnTo>
                    <a:pt x="7709213" y="0"/>
                  </a:lnTo>
                  <a:lnTo>
                    <a:pt x="7709213" y="9464739"/>
                  </a:lnTo>
                  <a:lnTo>
                    <a:pt x="0" y="9464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8294" b="-38294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20511948" y="8358421"/>
              <a:ext cx="3591335" cy="4379677"/>
            </a:xfrm>
            <a:custGeom>
              <a:avLst/>
              <a:gdLst/>
              <a:ahLst/>
              <a:cxnLst/>
              <a:rect l="l" t="t" r="r" b="b"/>
              <a:pathLst>
                <a:path w="3591335" h="4379677">
                  <a:moveTo>
                    <a:pt x="0" y="0"/>
                  </a:moveTo>
                  <a:lnTo>
                    <a:pt x="3591335" y="0"/>
                  </a:lnTo>
                  <a:lnTo>
                    <a:pt x="3591335" y="4379677"/>
                  </a:lnTo>
                  <a:lnTo>
                    <a:pt x="0" y="4379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8210408" y="10884240"/>
              <a:ext cx="2109653" cy="1853858"/>
            </a:xfrm>
            <a:custGeom>
              <a:avLst/>
              <a:gdLst/>
              <a:ahLst/>
              <a:cxnLst/>
              <a:rect l="l" t="t" r="r" b="b"/>
              <a:pathLst>
                <a:path w="2109653" h="1853858">
                  <a:moveTo>
                    <a:pt x="0" y="0"/>
                  </a:moveTo>
                  <a:lnTo>
                    <a:pt x="2109653" y="0"/>
                  </a:lnTo>
                  <a:lnTo>
                    <a:pt x="2109653" y="1853858"/>
                  </a:lnTo>
                  <a:lnTo>
                    <a:pt x="0" y="1853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1384300" y="1384300"/>
              <a:ext cx="8877300" cy="11285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15" dirty="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Spot the Trend?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84300" y="2613025"/>
              <a:ext cx="17192002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  <a:spcBef>
                  <a:spcPct val="0"/>
                </a:spcBef>
              </a:pPr>
              <a:r>
                <a:rPr lang="en-US" sz="2199" b="1" spc="116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“Based on this chart alone… do you think the price will go UP or DOWN tomorrow?” 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204700" y="12825760"/>
              <a:ext cx="12192000" cy="485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86"/>
                </a:lnSpc>
                <a:spcBef>
                  <a:spcPct val="0"/>
                </a:spcBef>
              </a:pPr>
              <a:r>
                <a:rPr lang="en-US" sz="2488" b="1" spc="-54">
                  <a:solidFill>
                    <a:srgbClr val="2F0000"/>
                  </a:solidFill>
                  <a:latin typeface="Lora Bold"/>
                  <a:ea typeface="Lora Bold"/>
                  <a:cs typeface="Lora Bold"/>
                  <a:sym typeface="Lora Bold"/>
                </a:rPr>
                <a:t>“Hint: There’s more than just the chart to know… let’s explore!”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0372563"/>
            <a:chOff x="0" y="0"/>
            <a:chExt cx="24409400" cy="1383008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56674" y="39782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7233900" y="12954000"/>
              <a:ext cx="5486400" cy="730250"/>
              <a:chOff x="0" y="0"/>
              <a:chExt cx="54864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2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3592193"/>
              <a:ext cx="24396700" cy="237892"/>
              <a:chOff x="0" y="0"/>
              <a:chExt cx="4819101" cy="4699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9015959" y="8335259"/>
              <a:ext cx="5393441" cy="5393441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1384300" y="1441450"/>
              <a:ext cx="5985074" cy="1104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2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Objectives: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4300" y="2759075"/>
              <a:ext cx="15595600" cy="31019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The specific objectives of the project are: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To determine whether </a:t>
              </a:r>
              <a:r>
                <a:rPr lang="en-US" sz="2199" spc="116" dirty="0" err="1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DMart</a:t>
              </a: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stock is a risky or safe investment.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To identify the best time to invest in and exit from </a:t>
              </a:r>
              <a:r>
                <a:rPr lang="en-US" sz="2199" spc="116" dirty="0" err="1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DMart</a:t>
              </a: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stock.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To evaluate whether </a:t>
              </a:r>
              <a:r>
                <a:rPr lang="en-US" sz="2199" spc="116" dirty="0" err="1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DMart</a:t>
              </a: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is a profitable company for investors.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To analyze the returns and volatility of </a:t>
              </a:r>
              <a:r>
                <a:rPr lang="en-US" sz="2199" spc="116" dirty="0" err="1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DMart</a:t>
              </a: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To assess whether long-term or short-term investment is preferable.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To evaluate the accuracy of stock price prediction models applied to </a:t>
              </a:r>
              <a:r>
                <a:rPr lang="en-US" sz="2199" spc="116" dirty="0" err="1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DMart</a:t>
              </a: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933450"/>
            <a:chOff x="0" y="0"/>
            <a:chExt cx="24409400" cy="12446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219200"/>
            </a:xfrm>
            <a:custGeom>
              <a:avLst/>
              <a:gdLst/>
              <a:ahLst/>
              <a:cxnLst/>
              <a:rect l="l" t="t" r="r" b="b"/>
              <a:pathLst>
                <a:path w="24384000" h="12192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244600"/>
            </a:xfrm>
            <a:custGeom>
              <a:avLst/>
              <a:gdLst/>
              <a:ahLst/>
              <a:cxnLst/>
              <a:rect l="l" t="t" r="r" b="b"/>
              <a:pathLst>
                <a:path w="24409400" h="12446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231900"/>
                  </a:lnTo>
                  <a:cubicBezTo>
                    <a:pt x="24409400" y="1238885"/>
                    <a:pt x="24403686" y="1244600"/>
                    <a:pt x="24396700" y="1244600"/>
                  </a:cubicBezTo>
                  <a:lnTo>
                    <a:pt x="12700" y="1244600"/>
                  </a:lnTo>
                  <a:cubicBezTo>
                    <a:pt x="5715" y="1244600"/>
                    <a:pt x="0" y="1238885"/>
                    <a:pt x="0" y="1231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31900"/>
                  </a:lnTo>
                  <a:lnTo>
                    <a:pt x="12700" y="1231900"/>
                  </a:lnTo>
                  <a:lnTo>
                    <a:pt x="12700" y="1219200"/>
                  </a:lnTo>
                  <a:lnTo>
                    <a:pt x="24396700" y="1219200"/>
                  </a:lnTo>
                  <a:lnTo>
                    <a:pt x="24396700" y="1231900"/>
                  </a:lnTo>
                  <a:lnTo>
                    <a:pt x="24384000" y="12319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F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707981" y="2974182"/>
            <a:ext cx="4872038" cy="4512466"/>
            <a:chOff x="0" y="0"/>
            <a:chExt cx="6496050" cy="6016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96050" cy="6016625"/>
            </a:xfrm>
            <a:custGeom>
              <a:avLst/>
              <a:gdLst/>
              <a:ahLst/>
              <a:cxnLst/>
              <a:rect l="l" t="t" r="r" b="b"/>
              <a:pathLst>
                <a:path w="6496050" h="6016625">
                  <a:moveTo>
                    <a:pt x="0" y="0"/>
                  </a:moveTo>
                  <a:lnTo>
                    <a:pt x="6496050" y="0"/>
                  </a:lnTo>
                  <a:lnTo>
                    <a:pt x="6496050" y="6016625"/>
                  </a:lnTo>
                  <a:lnTo>
                    <a:pt x="0" y="6016625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 t="-3984" b="-39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915900" y="970597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39">
                  <a:solidFill>
                    <a:srgbClr val="898989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rPr>
                <a:t>7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9525" y="10184620"/>
            <a:ext cx="18297525" cy="178419"/>
            <a:chOff x="0" y="0"/>
            <a:chExt cx="4819101" cy="469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9101" cy="46991"/>
            </a:xfrm>
            <a:custGeom>
              <a:avLst/>
              <a:gdLst/>
              <a:ahLst/>
              <a:cxnLst/>
              <a:rect l="l" t="t" r="r" b="b"/>
              <a:pathLst>
                <a:path w="4819101" h="46991">
                  <a:moveTo>
                    <a:pt x="0" y="0"/>
                  </a:moveTo>
                  <a:lnTo>
                    <a:pt x="4819101" y="0"/>
                  </a:lnTo>
                  <a:lnTo>
                    <a:pt x="4819101" y="46991"/>
                  </a:lnTo>
                  <a:lnTo>
                    <a:pt x="0" y="46991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4819101" cy="46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77502" y="3405535"/>
            <a:ext cx="17694896" cy="301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  <a:spcBef>
                <a:spcPct val="0"/>
              </a:spcBef>
            </a:pPr>
            <a:r>
              <a:rPr lang="en-US" sz="9999" b="1" spc="-219">
                <a:solidFill>
                  <a:srgbClr val="C0011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Methodological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8575" y="-9525"/>
            <a:ext cx="18326100" cy="10372563"/>
            <a:chOff x="0" y="0"/>
            <a:chExt cx="24434800" cy="13830085"/>
          </a:xfrm>
        </p:grpSpPr>
        <p:grpSp>
          <p:nvGrpSpPr>
            <p:cNvPr id="3" name="Group 3"/>
            <p:cNvGrpSpPr/>
            <p:nvPr/>
          </p:nvGrpSpPr>
          <p:grpSpPr>
            <a:xfrm>
              <a:off x="25400" y="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82074" y="39782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7259300" y="12954000"/>
              <a:ext cx="5486400" cy="730250"/>
              <a:chOff x="0" y="0"/>
              <a:chExt cx="54864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5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3592193"/>
              <a:ext cx="24396700" cy="237892"/>
              <a:chOff x="0" y="0"/>
              <a:chExt cx="4819101" cy="4699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4526422" y="7378700"/>
              <a:ext cx="2296023" cy="1214243"/>
            </a:xfrm>
            <a:custGeom>
              <a:avLst/>
              <a:gdLst/>
              <a:ahLst/>
              <a:cxnLst/>
              <a:rect l="l" t="t" r="r" b="b"/>
              <a:pathLst>
                <a:path w="2296023" h="1214243">
                  <a:moveTo>
                    <a:pt x="0" y="0"/>
                  </a:moveTo>
                  <a:lnTo>
                    <a:pt x="2296023" y="0"/>
                  </a:lnTo>
                  <a:lnTo>
                    <a:pt x="2296023" y="1214243"/>
                  </a:lnTo>
                  <a:lnTo>
                    <a:pt x="0" y="1214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3682306" y="8513984"/>
              <a:ext cx="379170" cy="526625"/>
            </a:xfrm>
            <a:custGeom>
              <a:avLst/>
              <a:gdLst/>
              <a:ahLst/>
              <a:cxnLst/>
              <a:rect l="l" t="t" r="r" b="b"/>
              <a:pathLst>
                <a:path w="379170" h="526625">
                  <a:moveTo>
                    <a:pt x="0" y="0"/>
                  </a:moveTo>
                  <a:lnTo>
                    <a:pt x="379169" y="0"/>
                  </a:lnTo>
                  <a:lnTo>
                    <a:pt x="379169" y="526625"/>
                  </a:lnTo>
                  <a:lnTo>
                    <a:pt x="0" y="526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7637124" y="7709926"/>
              <a:ext cx="6619248" cy="5802874"/>
            </a:xfrm>
            <a:custGeom>
              <a:avLst/>
              <a:gdLst/>
              <a:ahLst/>
              <a:cxnLst/>
              <a:rect l="l" t="t" r="r" b="b"/>
              <a:pathLst>
                <a:path w="6619248" h="5802874">
                  <a:moveTo>
                    <a:pt x="0" y="0"/>
                  </a:moveTo>
                  <a:lnTo>
                    <a:pt x="6619248" y="0"/>
                  </a:lnTo>
                  <a:lnTo>
                    <a:pt x="6619248" y="5802874"/>
                  </a:lnTo>
                  <a:lnTo>
                    <a:pt x="0" y="5802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1425575" y="1384300"/>
              <a:ext cx="9991725" cy="11285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20" dirty="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Data Description: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78683" y="2435032"/>
              <a:ext cx="8254047" cy="1323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Source: Yahoo Finance &amp; NSE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Period: Last 2 years (~594 observations)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Variables: Close Price, Daily Returns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09700" y="5118100"/>
              <a:ext cx="8355783" cy="1104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2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Preprocessing: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09700" y="6372224"/>
              <a:ext cx="18524077" cy="31119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Converted dates into datetime format and aligned both datasets on common trading days.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Returns were calculated as:</a:t>
              </a:r>
            </a:p>
            <a:p>
              <a:pPr algn="l">
                <a:lnSpc>
                  <a:spcPts val="2639"/>
                </a:lnSpc>
              </a:pPr>
              <a:endPara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endParaRPr>
            </a:p>
            <a:p>
              <a:pPr algn="l">
                <a:lnSpc>
                  <a:spcPts val="2639"/>
                </a:lnSpc>
              </a:pPr>
              <a:r>
                <a:rPr lang="en-US" sz="2199" spc="116" dirty="0">
                  <a:solidFill>
                    <a:srgbClr val="000000"/>
                  </a:solidFill>
                  <a:latin typeface="Brixton Sans"/>
                  <a:ea typeface="Brixton Sans"/>
                  <a:cs typeface="Brixton Sans"/>
                  <a:sym typeface="Brixton Sans"/>
                </a:rPr>
                <a:t> </a:t>
              </a:r>
            </a:p>
            <a:p>
              <a:pPr algn="l">
                <a:lnSpc>
                  <a:spcPts val="2639"/>
                </a:lnSpc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       </a:t>
              </a:r>
            </a:p>
            <a:p>
              <a:pPr algn="l">
                <a:lnSpc>
                  <a:spcPts val="2639"/>
                </a:lnSpc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       where     = Closing price on day t.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Missing values were not present in data.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0372563"/>
            <a:chOff x="0" y="0"/>
            <a:chExt cx="24409400" cy="1383008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56674" y="39782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7233900" y="12954000"/>
              <a:ext cx="5486400" cy="730250"/>
              <a:chOff x="0" y="0"/>
              <a:chExt cx="54864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6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3592193"/>
              <a:ext cx="24396700" cy="237892"/>
              <a:chOff x="0" y="0"/>
              <a:chExt cx="4819101" cy="4699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7233900" y="7833854"/>
              <a:ext cx="7175500" cy="5758339"/>
            </a:xfrm>
            <a:custGeom>
              <a:avLst/>
              <a:gdLst/>
              <a:ahLst/>
              <a:cxnLst/>
              <a:rect l="l" t="t" r="r" b="b"/>
              <a:pathLst>
                <a:path w="7175500" h="5758339">
                  <a:moveTo>
                    <a:pt x="0" y="0"/>
                  </a:moveTo>
                  <a:lnTo>
                    <a:pt x="7175500" y="0"/>
                  </a:lnTo>
                  <a:lnTo>
                    <a:pt x="7175500" y="5758339"/>
                  </a:lnTo>
                  <a:lnTo>
                    <a:pt x="0" y="5758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384300" y="1474985"/>
              <a:ext cx="15189200" cy="11285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20" dirty="0" err="1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DMart</a:t>
              </a:r>
              <a:r>
                <a:rPr lang="en-US" sz="5499" b="1" spc="-120" dirty="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 Financial Snapshot: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4300" y="2603500"/>
              <a:ext cx="3377567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  <a:spcBef>
                  <a:spcPct val="0"/>
                </a:spcBef>
              </a:pPr>
              <a:r>
                <a:rPr lang="en-US" sz="1800" b="1" spc="-39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(FY23–24 vs FY24–25)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4300" y="3108325"/>
              <a:ext cx="14684217" cy="3101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📈 Revenue (₹ Cr): 49,533 → 57,790 (+16.67%) ✅ Beneficial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💰 Profit After Tax (PAT, ₹ Cr): 2,694.92 → 2,927.18 (+6.61%) ✅ Beneficial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📊 Net Profit Margin: 5.44% → 5.06% (–0.38 ppt) ⚠️ Moderate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🏭 Operating Margin: 9.0 → 8.4 (–0.6 ppt) ⚠️ Moderate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🏦 Return on Equity (ROE): 13.53% (Stable) ✅ Beneficial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📌 Return on Capital Employed (ROCE): 19.66% (Improving) ✅ Beneficial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📘 Book Value (per share): ₹329 ⚪ Neutral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933450"/>
            <a:chOff x="0" y="0"/>
            <a:chExt cx="24409400" cy="12446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219200"/>
            </a:xfrm>
            <a:custGeom>
              <a:avLst/>
              <a:gdLst/>
              <a:ahLst/>
              <a:cxnLst/>
              <a:rect l="l" t="t" r="r" b="b"/>
              <a:pathLst>
                <a:path w="24384000" h="12192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244600"/>
            </a:xfrm>
            <a:custGeom>
              <a:avLst/>
              <a:gdLst/>
              <a:ahLst/>
              <a:cxnLst/>
              <a:rect l="l" t="t" r="r" b="b"/>
              <a:pathLst>
                <a:path w="24409400" h="12446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231900"/>
                  </a:lnTo>
                  <a:cubicBezTo>
                    <a:pt x="24409400" y="1238885"/>
                    <a:pt x="24403686" y="1244600"/>
                    <a:pt x="24396700" y="1244600"/>
                  </a:cubicBezTo>
                  <a:lnTo>
                    <a:pt x="12700" y="1244600"/>
                  </a:lnTo>
                  <a:cubicBezTo>
                    <a:pt x="5715" y="1244600"/>
                    <a:pt x="0" y="1238885"/>
                    <a:pt x="0" y="1231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31900"/>
                  </a:lnTo>
                  <a:lnTo>
                    <a:pt x="12700" y="1231900"/>
                  </a:lnTo>
                  <a:lnTo>
                    <a:pt x="12700" y="1219200"/>
                  </a:lnTo>
                  <a:lnTo>
                    <a:pt x="24396700" y="1219200"/>
                  </a:lnTo>
                  <a:lnTo>
                    <a:pt x="24396700" y="1231900"/>
                  </a:lnTo>
                  <a:lnTo>
                    <a:pt x="24384000" y="12319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F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707981" y="2974182"/>
            <a:ext cx="4872038" cy="4512466"/>
            <a:chOff x="0" y="0"/>
            <a:chExt cx="6496050" cy="6016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96050" cy="6016625"/>
            </a:xfrm>
            <a:custGeom>
              <a:avLst/>
              <a:gdLst/>
              <a:ahLst/>
              <a:cxnLst/>
              <a:rect l="l" t="t" r="r" b="b"/>
              <a:pathLst>
                <a:path w="6496050" h="6016625">
                  <a:moveTo>
                    <a:pt x="0" y="0"/>
                  </a:moveTo>
                  <a:lnTo>
                    <a:pt x="6496050" y="0"/>
                  </a:lnTo>
                  <a:lnTo>
                    <a:pt x="6496050" y="6016625"/>
                  </a:lnTo>
                  <a:lnTo>
                    <a:pt x="0" y="6016625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 t="-3984" b="-39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915900" y="970597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39">
                  <a:solidFill>
                    <a:srgbClr val="898989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9525" y="10184620"/>
            <a:ext cx="18297525" cy="178419"/>
            <a:chOff x="0" y="0"/>
            <a:chExt cx="4819101" cy="469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9101" cy="46991"/>
            </a:xfrm>
            <a:custGeom>
              <a:avLst/>
              <a:gdLst/>
              <a:ahLst/>
              <a:cxnLst/>
              <a:rect l="l" t="t" r="r" b="b"/>
              <a:pathLst>
                <a:path w="4819101" h="46991">
                  <a:moveTo>
                    <a:pt x="0" y="0"/>
                  </a:moveTo>
                  <a:lnTo>
                    <a:pt x="4819101" y="0"/>
                  </a:lnTo>
                  <a:lnTo>
                    <a:pt x="4819101" y="46991"/>
                  </a:lnTo>
                  <a:lnTo>
                    <a:pt x="0" y="46991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4819101" cy="46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aphicFrame>
        <p:nvGraphicFramePr>
          <p:cNvPr id="13" name="Object 13"/>
          <p:cNvGraphicFramePr/>
          <p:nvPr>
            <p:extLst>
              <p:ext uri="{D42A27DB-BD31-4B8C-83A1-F6EECF244321}">
                <p14:modId xmlns:p14="http://schemas.microsoft.com/office/powerpoint/2010/main" val="2238466598"/>
              </p:ext>
            </p:extLst>
          </p:nvPr>
        </p:nvGraphicFramePr>
        <p:xfrm>
          <a:off x="1028700" y="2032487"/>
          <a:ext cx="10551319" cy="4540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2146209" imgH="4427016" progId="Excel.Sheet.12">
                  <p:embed/>
                </p:oleObj>
              </mc:Choice>
              <mc:Fallback>
                <p:oleObj name="Worksheet" r:id="rId3" imgW="12146209" imgH="442701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700" y="2032487"/>
                        <a:ext cx="10551319" cy="45403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form 14"/>
          <p:cNvSpPr/>
          <p:nvPr/>
        </p:nvSpPr>
        <p:spPr>
          <a:xfrm>
            <a:off x="13454502" y="2087165"/>
            <a:ext cx="4485195" cy="4070314"/>
          </a:xfrm>
          <a:custGeom>
            <a:avLst/>
            <a:gdLst/>
            <a:ahLst/>
            <a:cxnLst/>
            <a:rect l="l" t="t" r="r" b="b"/>
            <a:pathLst>
              <a:path w="4485195" h="4070314">
                <a:moveTo>
                  <a:pt x="0" y="0"/>
                </a:moveTo>
                <a:lnTo>
                  <a:pt x="4485195" y="0"/>
                </a:lnTo>
                <a:lnTo>
                  <a:pt x="4485195" y="4070314"/>
                </a:lnTo>
                <a:lnTo>
                  <a:pt x="0" y="40703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115887" y="6572885"/>
            <a:ext cx="3823810" cy="2284726"/>
          </a:xfrm>
          <a:custGeom>
            <a:avLst/>
            <a:gdLst/>
            <a:ahLst/>
            <a:cxnLst/>
            <a:rect l="l" t="t" r="r" b="b"/>
            <a:pathLst>
              <a:path w="3823810" h="2284726">
                <a:moveTo>
                  <a:pt x="0" y="0"/>
                </a:moveTo>
                <a:lnTo>
                  <a:pt x="3823810" y="0"/>
                </a:lnTo>
                <a:lnTo>
                  <a:pt x="3823810" y="2284727"/>
                </a:lnTo>
                <a:lnTo>
                  <a:pt x="0" y="2284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8673" y="28673"/>
            <a:ext cx="1000027" cy="1000027"/>
          </a:xfrm>
          <a:custGeom>
            <a:avLst/>
            <a:gdLst/>
            <a:ahLst/>
            <a:cxnLst/>
            <a:rect l="l" t="t" r="r" b="b"/>
            <a:pathLst>
              <a:path w="1000027" h="1000027">
                <a:moveTo>
                  <a:pt x="0" y="0"/>
                </a:moveTo>
                <a:lnTo>
                  <a:pt x="1000027" y="0"/>
                </a:lnTo>
                <a:lnTo>
                  <a:pt x="1000027" y="1000027"/>
                </a:lnTo>
                <a:lnTo>
                  <a:pt x="0" y="10000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8700" y="1028700"/>
            <a:ext cx="1451610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99"/>
              </a:lnSpc>
              <a:spcBef>
                <a:spcPct val="0"/>
              </a:spcBef>
            </a:pPr>
            <a:r>
              <a:rPr lang="en-US" sz="5499" b="1" spc="-120" dirty="0">
                <a:solidFill>
                  <a:srgbClr val="C0011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Exploratory Data Analysis (EDA):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8772" y="6891336"/>
            <a:ext cx="13087187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Boxplot: </a:t>
            </a:r>
            <a:r>
              <a:rPr lang="en-US" sz="2199" spc="116" dirty="0" err="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DMart</a:t>
            </a: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shows wider spread &amp; outliers → higher volatility than NIFTY.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Histogram: Returns are bell-shaped but with heavy tails (extremes).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Cumulative Return: </a:t>
            </a:r>
            <a:r>
              <a:rPr lang="en-US" sz="2199" spc="116" dirty="0" err="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DMart</a:t>
            </a: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shows strong long-term growth, NIFTY steadier.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Correlation: Weak correlation (0.21) → </a:t>
            </a:r>
            <a:r>
              <a:rPr lang="en-US" sz="2199" spc="116" dirty="0" err="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DMart</a:t>
            </a: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moves independently of NIFTY.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endParaRPr lang="en-US" sz="2199" spc="116" dirty="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16575" cy="10372563"/>
            <a:chOff x="0" y="0"/>
            <a:chExt cx="24422100" cy="1383008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56674" y="39782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7233900" y="12954000"/>
              <a:ext cx="5486400" cy="730250"/>
              <a:chOff x="0" y="0"/>
              <a:chExt cx="54864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9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25400" y="13592193"/>
              <a:ext cx="24396700" cy="237892"/>
              <a:chOff x="0" y="0"/>
              <a:chExt cx="4819101" cy="4699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4747086" y="2971223"/>
              <a:ext cx="9060113" cy="4290054"/>
            </a:xfrm>
            <a:custGeom>
              <a:avLst/>
              <a:gdLst/>
              <a:ahLst/>
              <a:cxnLst/>
              <a:rect l="l" t="t" r="r" b="b"/>
              <a:pathLst>
                <a:path w="9060113" h="4290054">
                  <a:moveTo>
                    <a:pt x="0" y="0"/>
                  </a:moveTo>
                  <a:lnTo>
                    <a:pt x="9060113" y="0"/>
                  </a:lnTo>
                  <a:lnTo>
                    <a:pt x="9060113" y="4290054"/>
                  </a:lnTo>
                  <a:lnTo>
                    <a:pt x="0" y="4290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4747086" y="7828349"/>
              <a:ext cx="9060113" cy="4333098"/>
            </a:xfrm>
            <a:custGeom>
              <a:avLst/>
              <a:gdLst/>
              <a:ahLst/>
              <a:cxnLst/>
              <a:rect l="l" t="t" r="r" b="b"/>
              <a:pathLst>
                <a:path w="9060113" h="4333098">
                  <a:moveTo>
                    <a:pt x="0" y="0"/>
                  </a:moveTo>
                  <a:lnTo>
                    <a:pt x="9060113" y="0"/>
                  </a:lnTo>
                  <a:lnTo>
                    <a:pt x="9060113" y="4333098"/>
                  </a:lnTo>
                  <a:lnTo>
                    <a:pt x="0" y="4333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1384300" y="1384300"/>
              <a:ext cx="19659600" cy="11285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610" dirty="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Moving  Averages  Of  Nifty50  and  </a:t>
              </a:r>
              <a:r>
                <a:rPr lang="en-US" sz="5499" b="1" spc="-610" dirty="0" err="1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Dmart</a:t>
              </a:r>
              <a:r>
                <a:rPr lang="en-US" sz="5499" b="1" spc="-610" dirty="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4300" y="2638425"/>
              <a:ext cx="13822998" cy="4435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Smooth out noise: Reduces daily price fluctuations, shows real trend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.Identify trends:</a:t>
              </a:r>
            </a:p>
            <a:p>
              <a:pPr algn="l">
                <a:lnSpc>
                  <a:spcPts val="2639"/>
                </a:lnSpc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      20-day → short-term</a:t>
              </a:r>
            </a:p>
            <a:p>
              <a:pPr algn="l">
                <a:lnSpc>
                  <a:spcPts val="2639"/>
                </a:lnSpc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      50-day → medium-term</a:t>
              </a:r>
            </a:p>
            <a:p>
              <a:pPr algn="l">
                <a:lnSpc>
                  <a:spcPts val="2639"/>
                </a:lnSpc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      200-day → long-term</a:t>
              </a:r>
            </a:p>
            <a:p>
              <a:pPr algn="l">
                <a:lnSpc>
                  <a:spcPts val="2639"/>
                </a:lnSpc>
              </a:pPr>
              <a:endPara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endParaRP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Golden Cross = Bullish ✨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Death Cross = Bearish ⚠️</a:t>
              </a:r>
            </a:p>
            <a:p>
              <a:pPr algn="l">
                <a:lnSpc>
                  <a:spcPts val="2639"/>
                </a:lnSpc>
                <a:spcBef>
                  <a:spcPct val="0"/>
                </a:spcBef>
              </a:pPr>
              <a:endPara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endParaRPr>
            </a:p>
            <a:p>
              <a:pPr algn="l">
                <a:lnSpc>
                  <a:spcPts val="2639"/>
                </a:lnSpc>
                <a:spcBef>
                  <a:spcPct val="0"/>
                </a:spcBef>
              </a:pPr>
              <a:endPara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0372564"/>
            <a:chOff x="0" y="0"/>
            <a:chExt cx="24409400" cy="1383008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56674" y="39782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7233900" y="12954000"/>
              <a:ext cx="5486400" cy="730250"/>
              <a:chOff x="0" y="0"/>
              <a:chExt cx="54864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4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3592193"/>
              <a:ext cx="24396700" cy="237892"/>
              <a:chOff x="0" y="0"/>
              <a:chExt cx="4819101" cy="4699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786817" y="5102927"/>
              <a:ext cx="17313983" cy="7175684"/>
            </a:xfrm>
            <a:custGeom>
              <a:avLst/>
              <a:gdLst/>
              <a:ahLst/>
              <a:cxnLst/>
              <a:rect l="l" t="t" r="r" b="b"/>
              <a:pathLst>
                <a:path w="17313983" h="7175684">
                  <a:moveTo>
                    <a:pt x="0" y="0"/>
                  </a:moveTo>
                  <a:lnTo>
                    <a:pt x="17313983" y="0"/>
                  </a:lnTo>
                  <a:lnTo>
                    <a:pt x="17313983" y="7175684"/>
                  </a:lnTo>
                  <a:lnTo>
                    <a:pt x="0" y="7175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21135704" y="11396207"/>
              <a:ext cx="3169193" cy="2195986"/>
            </a:xfrm>
            <a:custGeom>
              <a:avLst/>
              <a:gdLst/>
              <a:ahLst/>
              <a:cxnLst/>
              <a:rect l="l" t="t" r="r" b="b"/>
              <a:pathLst>
                <a:path w="3169193" h="2195986">
                  <a:moveTo>
                    <a:pt x="0" y="0"/>
                  </a:moveTo>
                  <a:lnTo>
                    <a:pt x="3169192" y="0"/>
                  </a:lnTo>
                  <a:lnTo>
                    <a:pt x="3169192" y="2195986"/>
                  </a:lnTo>
                  <a:lnTo>
                    <a:pt x="0" y="219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1384300" y="3763963"/>
              <a:ext cx="15168245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  <a:spcBef>
                  <a:spcPct val="0"/>
                </a:spcBef>
              </a:pPr>
              <a:r>
                <a:rPr lang="en-US" sz="2199" b="1" spc="116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Dmart price Trend with signals based on Trend, Volatility and Fundamentals: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4300" y="1392238"/>
              <a:ext cx="19362618" cy="2209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2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best time to invest in and exit from DMart stock: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0372563"/>
            <a:chOff x="0" y="0"/>
            <a:chExt cx="24409400" cy="1383008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56674" y="39782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7233900" y="12954000"/>
              <a:ext cx="5486400" cy="730250"/>
              <a:chOff x="0" y="0"/>
              <a:chExt cx="54864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4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3592193"/>
              <a:ext cx="24396700" cy="237892"/>
              <a:chOff x="0" y="0"/>
              <a:chExt cx="4819101" cy="4699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6577748" y="9586718"/>
              <a:ext cx="7162800" cy="3314950"/>
            </a:xfrm>
            <a:custGeom>
              <a:avLst/>
              <a:gdLst/>
              <a:ahLst/>
              <a:cxnLst/>
              <a:rect l="l" t="t" r="r" b="b"/>
              <a:pathLst>
                <a:path w="7162800" h="3314950">
                  <a:moveTo>
                    <a:pt x="0" y="0"/>
                  </a:moveTo>
                  <a:lnTo>
                    <a:pt x="7162800" y="0"/>
                  </a:lnTo>
                  <a:lnTo>
                    <a:pt x="7162800" y="3314950"/>
                  </a:lnTo>
                  <a:lnTo>
                    <a:pt x="0" y="331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384300" y="2752725"/>
              <a:ext cx="14852492" cy="8880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b="1" spc="116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Normality (Shapiro-Wilk Test)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Both DMart &amp; NIFTY: p &lt; 0.05 → reject perfect normality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BUT visual plots (Q-Q, histogram) ≈ bell-shaped → approx normal ✅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🔑 Takeaway: Enough normality to proceed with analysis</a:t>
              </a:r>
            </a:p>
            <a:p>
              <a:pPr algn="l">
                <a:lnSpc>
                  <a:spcPts val="2639"/>
                </a:lnSpc>
              </a:pPr>
              <a:endPara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endParaRPr>
            </a:p>
            <a:p>
              <a:pPr algn="l">
                <a:lnSpc>
                  <a:spcPts val="2639"/>
                </a:lnSpc>
              </a:pPr>
              <a:r>
                <a:rPr lang="en-US" sz="2199" b="1" spc="116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Levene’s Test (Volatility Check)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Statistic = 121.97, p ≈ 0 → variances not equal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DMart much more volatile/jumpy than NIFTY ⚡</a:t>
              </a:r>
            </a:p>
            <a:p>
              <a:pPr algn="l">
                <a:lnSpc>
                  <a:spcPts val="2639"/>
                </a:lnSpc>
              </a:pPr>
              <a:endPara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endParaRPr>
            </a:p>
            <a:p>
              <a:pPr algn="l">
                <a:lnSpc>
                  <a:spcPts val="2639"/>
                </a:lnSpc>
              </a:pPr>
              <a:r>
                <a:rPr lang="en-US" sz="2199" b="1" spc="116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Welch’s t-Test (Mean Returns)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Statistic = 0.0395, p ≈ 0.968 &gt; 0.05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No significant difference → DMart &amp; NIFTY daily returns ≈ same 📈</a:t>
              </a:r>
            </a:p>
            <a:p>
              <a:pPr algn="l">
                <a:lnSpc>
                  <a:spcPts val="2639"/>
                </a:lnSpc>
              </a:pPr>
              <a:endPara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endParaRPr>
            </a:p>
            <a:p>
              <a:pPr algn="l">
                <a:lnSpc>
                  <a:spcPts val="2639"/>
                </a:lnSpc>
              </a:pPr>
              <a:r>
                <a:rPr lang="en-US" sz="2199" b="1" spc="116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Confidence Interval (DMart – NIFTY)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95% CI for mean diff: (–0.0015, +0.0015)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Confirms returns are statistically equal</a:t>
              </a:r>
            </a:p>
            <a:p>
              <a:pPr algn="l">
                <a:lnSpc>
                  <a:spcPts val="2639"/>
                </a:lnSpc>
              </a:pPr>
              <a:endPara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endParaRPr>
            </a:p>
            <a:p>
              <a:pPr algn="l">
                <a:lnSpc>
                  <a:spcPts val="2639"/>
                </a:lnSpc>
              </a:pPr>
              <a:r>
                <a:rPr lang="en-US" sz="2199" b="1" spc="116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DMart One-Sample t-Test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T = 0.90, p = 0.36 → mean daily return (0.06%) not significantly &gt; 0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🔑 Takeaway: DMart does earn small daily gains, but not statistically huge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16474700" y="2834962"/>
              <a:ext cx="7265847" cy="6523156"/>
            </a:xfrm>
            <a:custGeom>
              <a:avLst/>
              <a:gdLst/>
              <a:ahLst/>
              <a:cxnLst/>
              <a:rect l="l" t="t" r="r" b="b"/>
              <a:pathLst>
                <a:path w="7265847" h="6523156">
                  <a:moveTo>
                    <a:pt x="0" y="0"/>
                  </a:moveTo>
                  <a:lnTo>
                    <a:pt x="7265848" y="0"/>
                  </a:lnTo>
                  <a:lnTo>
                    <a:pt x="7265848" y="6523156"/>
                  </a:lnTo>
                  <a:lnTo>
                    <a:pt x="0" y="6523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1384300" y="1384300"/>
              <a:ext cx="21082000" cy="11285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20" dirty="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Statistical Tests on </a:t>
              </a:r>
              <a:r>
                <a:rPr lang="en-US" sz="5499" b="1" spc="-120" dirty="0" err="1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DMart</a:t>
              </a:r>
              <a:r>
                <a:rPr lang="en-US" sz="5499" b="1" spc="-120" dirty="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 vs NIFTY50: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0372563"/>
            <a:chOff x="0" y="0"/>
            <a:chExt cx="24409400" cy="1383008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56674" y="39782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7233900" y="12954000"/>
              <a:ext cx="5486400" cy="730250"/>
              <a:chOff x="0" y="0"/>
              <a:chExt cx="54864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6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3592193"/>
              <a:ext cx="24396700" cy="237892"/>
              <a:chOff x="0" y="0"/>
              <a:chExt cx="4819101" cy="4699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8700125" y="8602032"/>
              <a:ext cx="5696575" cy="4847268"/>
            </a:xfrm>
            <a:custGeom>
              <a:avLst/>
              <a:gdLst/>
              <a:ahLst/>
              <a:cxnLst/>
              <a:rect l="l" t="t" r="r" b="b"/>
              <a:pathLst>
                <a:path w="5696575" h="4847268">
                  <a:moveTo>
                    <a:pt x="0" y="0"/>
                  </a:moveTo>
                  <a:lnTo>
                    <a:pt x="5696575" y="0"/>
                  </a:lnTo>
                  <a:lnTo>
                    <a:pt x="5696575" y="4847268"/>
                  </a:lnTo>
                  <a:lnTo>
                    <a:pt x="0" y="4847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384300" y="1384300"/>
              <a:ext cx="22606000" cy="11285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20" dirty="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Annualized Performance &amp; Risk Metrics: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4300" y="2638425"/>
              <a:ext cx="14934882" cy="5324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b="1" spc="116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Annualized Returns &amp; Volatility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📈 DMart Return: 17.32% | Volatility: 27.06%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📊 NIFTY50 Return: 16.43% | Volatility: 12.55%</a:t>
              </a:r>
            </a:p>
            <a:p>
              <a:pPr algn="l">
                <a:lnSpc>
                  <a:spcPts val="2639"/>
                </a:lnSpc>
              </a:pPr>
              <a:r>
                <a:rPr lang="en-US" sz="2199" b="1" spc="116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Sharpe Ratio (Risk-Adjusted Return)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Formula: (Mean Return – Risk-Free Rate) ÷ Std. Dev. of Returns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DMart: 0.42 → weaker risk-adjusted returns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NIFTY50: 0.83 → better balance of risk &amp; reward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🔑 Takeaway: DMart is profitable but not optimal for risk-averse investors</a:t>
              </a:r>
            </a:p>
            <a:p>
              <a:pPr algn="l">
                <a:lnSpc>
                  <a:spcPts val="2639"/>
                </a:lnSpc>
              </a:pPr>
              <a:r>
                <a:rPr lang="en-US" sz="2199" b="1" spc="116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Beta vs NIFTY (Systematic Risk)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Beta = 0.45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Interpretation: DMart moves less than half as much as NIFTY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Attitude: “Independent” → calmer than market swings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0372563"/>
            <a:chOff x="0" y="0"/>
            <a:chExt cx="24409400" cy="1383008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56674" y="39782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7233900" y="12954000"/>
              <a:ext cx="5486400" cy="730250"/>
              <a:chOff x="0" y="0"/>
              <a:chExt cx="54864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6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3592193"/>
              <a:ext cx="24396700" cy="237892"/>
              <a:chOff x="0" y="0"/>
              <a:chExt cx="4819101" cy="4699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8522714" y="7832725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384300" y="1384300"/>
              <a:ext cx="22199600" cy="11285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20" dirty="0" err="1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DMart</a:t>
              </a:r>
              <a:r>
                <a:rPr lang="en-US" sz="5499" b="1" spc="-120" dirty="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 Risk Classification (2 Years Data):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4300" y="2638425"/>
              <a:ext cx="15234920" cy="3990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b="1" spc="116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Volatility-Based Risk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Annualized Volatility: 27.06% → Risky ⚠️</a:t>
              </a:r>
            </a:p>
            <a:p>
              <a:pPr algn="l">
                <a:lnSpc>
                  <a:spcPts val="2639"/>
                </a:lnSpc>
              </a:pPr>
              <a:r>
                <a:rPr lang="en-US" sz="2199" b="1" spc="116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Quartile/Minimum Return Risk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Q1 = –0.81%, Min Return = –8.5%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Classification: Beneficial (limited downside risk) ✅</a:t>
              </a:r>
            </a:p>
            <a:p>
              <a:pPr algn="l">
                <a:lnSpc>
                  <a:spcPts val="2639"/>
                </a:lnSpc>
              </a:pPr>
              <a:r>
                <a:rPr lang="en-US" sz="2199" b="1" spc="116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Trend-Based Risk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Current Price &gt; MA200 → Beneficial Trend 📈</a:t>
              </a:r>
            </a:p>
            <a:p>
              <a:pPr algn="l">
                <a:lnSpc>
                  <a:spcPts val="2639"/>
                </a:lnSpc>
              </a:pPr>
              <a:r>
                <a:rPr lang="en-US" sz="2199" b="1" spc="116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Overall Risk Classification: Beneficial ✅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DMart shows moderate volatility, stable trend, and controlled downside risk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933450"/>
            <a:chOff x="0" y="0"/>
            <a:chExt cx="24409400" cy="12446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219200"/>
            </a:xfrm>
            <a:custGeom>
              <a:avLst/>
              <a:gdLst/>
              <a:ahLst/>
              <a:cxnLst/>
              <a:rect l="l" t="t" r="r" b="b"/>
              <a:pathLst>
                <a:path w="24384000" h="12192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244600"/>
            </a:xfrm>
            <a:custGeom>
              <a:avLst/>
              <a:gdLst/>
              <a:ahLst/>
              <a:cxnLst/>
              <a:rect l="l" t="t" r="r" b="b"/>
              <a:pathLst>
                <a:path w="24409400" h="12446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231900"/>
                  </a:lnTo>
                  <a:cubicBezTo>
                    <a:pt x="24409400" y="1238885"/>
                    <a:pt x="24403686" y="1244600"/>
                    <a:pt x="24396700" y="1244600"/>
                  </a:cubicBezTo>
                  <a:lnTo>
                    <a:pt x="12700" y="1244600"/>
                  </a:lnTo>
                  <a:cubicBezTo>
                    <a:pt x="5715" y="1244600"/>
                    <a:pt x="0" y="1238885"/>
                    <a:pt x="0" y="1231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31900"/>
                  </a:lnTo>
                  <a:lnTo>
                    <a:pt x="12700" y="1231900"/>
                  </a:lnTo>
                  <a:lnTo>
                    <a:pt x="12700" y="1219200"/>
                  </a:lnTo>
                  <a:lnTo>
                    <a:pt x="24396700" y="1219200"/>
                  </a:lnTo>
                  <a:lnTo>
                    <a:pt x="24396700" y="1231900"/>
                  </a:lnTo>
                  <a:lnTo>
                    <a:pt x="24384000" y="12319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F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707981" y="2974182"/>
            <a:ext cx="4872038" cy="4512466"/>
            <a:chOff x="0" y="0"/>
            <a:chExt cx="6496050" cy="6016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96050" cy="6016625"/>
            </a:xfrm>
            <a:custGeom>
              <a:avLst/>
              <a:gdLst/>
              <a:ahLst/>
              <a:cxnLst/>
              <a:rect l="l" t="t" r="r" b="b"/>
              <a:pathLst>
                <a:path w="6496050" h="6016625">
                  <a:moveTo>
                    <a:pt x="0" y="0"/>
                  </a:moveTo>
                  <a:lnTo>
                    <a:pt x="6496050" y="0"/>
                  </a:lnTo>
                  <a:lnTo>
                    <a:pt x="6496050" y="6016625"/>
                  </a:lnTo>
                  <a:lnTo>
                    <a:pt x="0" y="6016625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 t="-3984" b="-39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915900" y="970597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39">
                  <a:solidFill>
                    <a:srgbClr val="898989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9525" y="10184620"/>
            <a:ext cx="18297525" cy="178419"/>
            <a:chOff x="0" y="0"/>
            <a:chExt cx="4819101" cy="469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9101" cy="46991"/>
            </a:xfrm>
            <a:custGeom>
              <a:avLst/>
              <a:gdLst/>
              <a:ahLst/>
              <a:cxnLst/>
              <a:rect l="l" t="t" r="r" b="b"/>
              <a:pathLst>
                <a:path w="4819101" h="46991">
                  <a:moveTo>
                    <a:pt x="0" y="0"/>
                  </a:moveTo>
                  <a:lnTo>
                    <a:pt x="4819101" y="0"/>
                  </a:lnTo>
                  <a:lnTo>
                    <a:pt x="4819101" y="46991"/>
                  </a:lnTo>
                  <a:lnTo>
                    <a:pt x="0" y="46991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4819101" cy="46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51700" y="5985279"/>
            <a:ext cx="2309432" cy="4114800"/>
          </a:xfrm>
          <a:custGeom>
            <a:avLst/>
            <a:gdLst/>
            <a:ahLst/>
            <a:cxnLst/>
            <a:rect l="l" t="t" r="r" b="b"/>
            <a:pathLst>
              <a:path w="2309432" h="4114800">
                <a:moveTo>
                  <a:pt x="0" y="0"/>
                </a:moveTo>
                <a:lnTo>
                  <a:pt x="2309432" y="0"/>
                </a:lnTo>
                <a:lnTo>
                  <a:pt x="23094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18859" y="4395787"/>
            <a:ext cx="16050280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  <a:spcBef>
                <a:spcPct val="0"/>
              </a:spcBef>
            </a:pPr>
            <a:r>
              <a:rPr lang="en-US" sz="9999" b="1" spc="-219">
                <a:solidFill>
                  <a:srgbClr val="C0011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Modeling Approaches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933450"/>
            <a:chOff x="0" y="0"/>
            <a:chExt cx="24409400" cy="12446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219200"/>
            </a:xfrm>
            <a:custGeom>
              <a:avLst/>
              <a:gdLst/>
              <a:ahLst/>
              <a:cxnLst/>
              <a:rect l="l" t="t" r="r" b="b"/>
              <a:pathLst>
                <a:path w="24384000" h="12192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244600"/>
            </a:xfrm>
            <a:custGeom>
              <a:avLst/>
              <a:gdLst/>
              <a:ahLst/>
              <a:cxnLst/>
              <a:rect l="l" t="t" r="r" b="b"/>
              <a:pathLst>
                <a:path w="24409400" h="12446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231900"/>
                  </a:lnTo>
                  <a:cubicBezTo>
                    <a:pt x="24409400" y="1238885"/>
                    <a:pt x="24403686" y="1244600"/>
                    <a:pt x="24396700" y="1244600"/>
                  </a:cubicBezTo>
                  <a:lnTo>
                    <a:pt x="12700" y="1244600"/>
                  </a:lnTo>
                  <a:cubicBezTo>
                    <a:pt x="5715" y="1244600"/>
                    <a:pt x="0" y="1238885"/>
                    <a:pt x="0" y="1231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31900"/>
                  </a:lnTo>
                  <a:lnTo>
                    <a:pt x="12700" y="1231900"/>
                  </a:lnTo>
                  <a:lnTo>
                    <a:pt x="12700" y="1219200"/>
                  </a:lnTo>
                  <a:lnTo>
                    <a:pt x="24396700" y="1219200"/>
                  </a:lnTo>
                  <a:lnTo>
                    <a:pt x="24396700" y="1231900"/>
                  </a:lnTo>
                  <a:lnTo>
                    <a:pt x="24384000" y="12319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F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707981" y="2974182"/>
            <a:ext cx="4872038" cy="4512466"/>
            <a:chOff x="0" y="0"/>
            <a:chExt cx="6496050" cy="6016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96050" cy="6016625"/>
            </a:xfrm>
            <a:custGeom>
              <a:avLst/>
              <a:gdLst/>
              <a:ahLst/>
              <a:cxnLst/>
              <a:rect l="l" t="t" r="r" b="b"/>
              <a:pathLst>
                <a:path w="6496050" h="6016625">
                  <a:moveTo>
                    <a:pt x="0" y="0"/>
                  </a:moveTo>
                  <a:lnTo>
                    <a:pt x="6496050" y="0"/>
                  </a:lnTo>
                  <a:lnTo>
                    <a:pt x="6496050" y="6016625"/>
                  </a:lnTo>
                  <a:lnTo>
                    <a:pt x="0" y="6016625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 t="-3984" b="-39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915900" y="970597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39">
                  <a:solidFill>
                    <a:srgbClr val="898989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9525" y="10184620"/>
            <a:ext cx="18297525" cy="178419"/>
            <a:chOff x="0" y="0"/>
            <a:chExt cx="4819101" cy="469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9101" cy="46991"/>
            </a:xfrm>
            <a:custGeom>
              <a:avLst/>
              <a:gdLst/>
              <a:ahLst/>
              <a:cxnLst/>
              <a:rect l="l" t="t" r="r" b="b"/>
              <a:pathLst>
                <a:path w="4819101" h="46991">
                  <a:moveTo>
                    <a:pt x="0" y="0"/>
                  </a:moveTo>
                  <a:lnTo>
                    <a:pt x="4819101" y="0"/>
                  </a:lnTo>
                  <a:lnTo>
                    <a:pt x="4819101" y="46991"/>
                  </a:lnTo>
                  <a:lnTo>
                    <a:pt x="0" y="46991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4819101" cy="46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aphicFrame>
        <p:nvGraphicFramePr>
          <p:cNvPr id="13" name="Object 13"/>
          <p:cNvGraphicFramePr/>
          <p:nvPr/>
        </p:nvGraphicFramePr>
        <p:xfrm>
          <a:off x="1028700" y="4538399"/>
          <a:ext cx="75438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42400" imgH="4013200" progId="Excel.Sheet.12">
                  <p:embed/>
                </p:oleObj>
              </mc:Choice>
              <mc:Fallback>
                <p:oleObj name="Worksheet" r:id="rId3" imgW="9042400" imgH="4013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700" y="4538399"/>
                        <a:ext cx="7543800" cy="251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form 14"/>
          <p:cNvSpPr/>
          <p:nvPr/>
        </p:nvSpPr>
        <p:spPr>
          <a:xfrm>
            <a:off x="9511902" y="4538399"/>
            <a:ext cx="8427058" cy="2517910"/>
          </a:xfrm>
          <a:custGeom>
            <a:avLst/>
            <a:gdLst/>
            <a:ahLst/>
            <a:cxnLst/>
            <a:rect l="l" t="t" r="r" b="b"/>
            <a:pathLst>
              <a:path w="8427058" h="2517910">
                <a:moveTo>
                  <a:pt x="0" y="0"/>
                </a:moveTo>
                <a:lnTo>
                  <a:pt x="8427057" y="0"/>
                </a:lnTo>
                <a:lnTo>
                  <a:pt x="8427057" y="2517910"/>
                </a:lnTo>
                <a:lnTo>
                  <a:pt x="0" y="25179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1971675"/>
            <a:ext cx="13830300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1" spc="116" dirty="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To analyze short-term stock dynamics, we classified </a:t>
            </a:r>
            <a:r>
              <a:rPr lang="en-US" sz="2199" b="1" spc="116" dirty="0" err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DMart’s</a:t>
            </a:r>
            <a:r>
              <a:rPr lang="en-US" sz="2199" b="1" spc="116" dirty="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daily returns into three states: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028700"/>
            <a:ext cx="650486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  <a:spcBef>
                <a:spcPct val="0"/>
              </a:spcBef>
            </a:pPr>
            <a:r>
              <a:rPr lang="en-US" sz="5499" b="1" spc="-120">
                <a:solidFill>
                  <a:srgbClr val="C0011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Markov Chains: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2409825"/>
            <a:ext cx="13052942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a. Up: Return &gt; 0.1%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b. Down: Return &lt; -0.1%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c. Neutral: Return between -0.1% and 0.1%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endParaRPr lang="en-US" sz="2199" spc="116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Transition Probability Matrix: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This matrix shows the likelihood of moving from one state to another on consecutive days.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endParaRPr lang="en-US" sz="2199" spc="116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964212" y="7219948"/>
            <a:ext cx="823485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spc="-3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Insight: DMart shows persistence in trends — ~52% chance of staying Up once Up, ~55% chance of staying Down once Down.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933450"/>
            <a:chOff x="0" y="0"/>
            <a:chExt cx="24409400" cy="12446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219200"/>
            </a:xfrm>
            <a:custGeom>
              <a:avLst/>
              <a:gdLst/>
              <a:ahLst/>
              <a:cxnLst/>
              <a:rect l="l" t="t" r="r" b="b"/>
              <a:pathLst>
                <a:path w="24384000" h="12192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244600"/>
            </a:xfrm>
            <a:custGeom>
              <a:avLst/>
              <a:gdLst/>
              <a:ahLst/>
              <a:cxnLst/>
              <a:rect l="l" t="t" r="r" b="b"/>
              <a:pathLst>
                <a:path w="24409400" h="12446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231900"/>
                  </a:lnTo>
                  <a:cubicBezTo>
                    <a:pt x="24409400" y="1238885"/>
                    <a:pt x="24403686" y="1244600"/>
                    <a:pt x="24396700" y="1244600"/>
                  </a:cubicBezTo>
                  <a:lnTo>
                    <a:pt x="12700" y="1244600"/>
                  </a:lnTo>
                  <a:cubicBezTo>
                    <a:pt x="5715" y="1244600"/>
                    <a:pt x="0" y="1238885"/>
                    <a:pt x="0" y="1231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31900"/>
                  </a:lnTo>
                  <a:lnTo>
                    <a:pt x="12700" y="1231900"/>
                  </a:lnTo>
                  <a:lnTo>
                    <a:pt x="12700" y="1219200"/>
                  </a:lnTo>
                  <a:lnTo>
                    <a:pt x="24396700" y="1219200"/>
                  </a:lnTo>
                  <a:lnTo>
                    <a:pt x="24396700" y="1231900"/>
                  </a:lnTo>
                  <a:lnTo>
                    <a:pt x="24384000" y="12319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F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707981" y="2974182"/>
            <a:ext cx="4872038" cy="4512466"/>
            <a:chOff x="0" y="0"/>
            <a:chExt cx="6496050" cy="6016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96050" cy="6016625"/>
            </a:xfrm>
            <a:custGeom>
              <a:avLst/>
              <a:gdLst/>
              <a:ahLst/>
              <a:cxnLst/>
              <a:rect l="l" t="t" r="r" b="b"/>
              <a:pathLst>
                <a:path w="6496050" h="6016625">
                  <a:moveTo>
                    <a:pt x="0" y="0"/>
                  </a:moveTo>
                  <a:lnTo>
                    <a:pt x="6496050" y="0"/>
                  </a:lnTo>
                  <a:lnTo>
                    <a:pt x="6496050" y="6016625"/>
                  </a:lnTo>
                  <a:lnTo>
                    <a:pt x="0" y="6016625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 t="-3984" b="-39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915900" y="970597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39">
                  <a:solidFill>
                    <a:srgbClr val="898989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9525" y="10184620"/>
            <a:ext cx="18297525" cy="178419"/>
            <a:chOff x="0" y="0"/>
            <a:chExt cx="4819101" cy="469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9101" cy="46991"/>
            </a:xfrm>
            <a:custGeom>
              <a:avLst/>
              <a:gdLst/>
              <a:ahLst/>
              <a:cxnLst/>
              <a:rect l="l" t="t" r="r" b="b"/>
              <a:pathLst>
                <a:path w="4819101" h="46991">
                  <a:moveTo>
                    <a:pt x="0" y="0"/>
                  </a:moveTo>
                  <a:lnTo>
                    <a:pt x="4819101" y="0"/>
                  </a:lnTo>
                  <a:lnTo>
                    <a:pt x="4819101" y="46991"/>
                  </a:lnTo>
                  <a:lnTo>
                    <a:pt x="0" y="46991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4819101" cy="46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aphicFrame>
        <p:nvGraphicFramePr>
          <p:cNvPr id="13" name="Object 13"/>
          <p:cNvGraphicFramePr/>
          <p:nvPr/>
        </p:nvGraphicFramePr>
        <p:xfrm>
          <a:off x="1028700" y="3838575"/>
          <a:ext cx="5657850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781800" imgH="3009900" progId="Excel.Sheet.12">
                  <p:embed/>
                </p:oleObj>
              </mc:Choice>
              <mc:Fallback>
                <p:oleObj name="Worksheet" r:id="rId3" imgW="6781800" imgH="3009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700" y="3838575"/>
                        <a:ext cx="5657850" cy="1885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form 14"/>
          <p:cNvSpPr/>
          <p:nvPr/>
        </p:nvSpPr>
        <p:spPr>
          <a:xfrm>
            <a:off x="7866720" y="5990657"/>
            <a:ext cx="7399726" cy="2708933"/>
          </a:xfrm>
          <a:custGeom>
            <a:avLst/>
            <a:gdLst/>
            <a:ahLst/>
            <a:cxnLst/>
            <a:rect l="l" t="t" r="r" b="b"/>
            <a:pathLst>
              <a:path w="7399726" h="2708933">
                <a:moveTo>
                  <a:pt x="0" y="0"/>
                </a:moveTo>
                <a:lnTo>
                  <a:pt x="7399726" y="0"/>
                </a:lnTo>
                <a:lnTo>
                  <a:pt x="7399726" y="2708932"/>
                </a:lnTo>
                <a:lnTo>
                  <a:pt x="0" y="27089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8700" y="5900840"/>
            <a:ext cx="5679280" cy="2798749"/>
          </a:xfrm>
          <a:custGeom>
            <a:avLst/>
            <a:gdLst/>
            <a:ahLst/>
            <a:cxnLst/>
            <a:rect l="l" t="t" r="r" b="b"/>
            <a:pathLst>
              <a:path w="5679280" h="2798749">
                <a:moveTo>
                  <a:pt x="0" y="0"/>
                </a:moveTo>
                <a:lnTo>
                  <a:pt x="5679280" y="0"/>
                </a:lnTo>
                <a:lnTo>
                  <a:pt x="5679280" y="2798749"/>
                </a:lnTo>
                <a:lnTo>
                  <a:pt x="0" y="27987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8700" y="1028700"/>
            <a:ext cx="13144500" cy="838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99"/>
              </a:lnSpc>
              <a:spcBef>
                <a:spcPct val="0"/>
              </a:spcBef>
            </a:pPr>
            <a:r>
              <a:rPr lang="en-US" sz="5499" b="1" spc="-120" dirty="0">
                <a:solidFill>
                  <a:srgbClr val="C0011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Hidden Markov Models (HMM):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1971675"/>
            <a:ext cx="17259300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We applied a 2-state Gaussian Hidden Markov Model (HMM) to </a:t>
            </a:r>
            <a:r>
              <a:rPr lang="en-US" sz="2199" spc="116" dirty="0" err="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DMart’s</a:t>
            </a: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daily returns to identify hidden market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regimes, broadly classified as Bull and Bear.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743200"/>
            <a:ext cx="8729306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Regime Classification:</a:t>
            </a:r>
          </a:p>
          <a:p>
            <a:pPr marL="474978" lvl="1" indent="-237489" algn="l">
              <a:lnSpc>
                <a:spcPts val="2639"/>
              </a:lnSpc>
              <a:buFont typeface="Arial"/>
              <a:buChar char="•"/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State 0 (Bear): Mean return = -0.005%, Volatility = 1.347%</a:t>
            </a:r>
          </a:p>
          <a:p>
            <a:pPr marL="474978" lvl="1" indent="-237489" algn="l">
              <a:lnSpc>
                <a:spcPts val="2639"/>
              </a:lnSpc>
              <a:buFont typeface="Arial"/>
              <a:buChar char="•"/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State 1 (Bull): Mean return = 1.934%, Volatility = 5.520%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2610" y="8991600"/>
            <a:ext cx="580537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spc="-3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HMM separates bull (green) and bear (red) phases — bull state has higher returns but also higher volatility.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35529" y="8991600"/>
            <a:ext cx="7130917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spc="-3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Hidden states reveal market regimes not obvious in raw returns — green = growth, red = decline.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933450"/>
            <a:chOff x="0" y="0"/>
            <a:chExt cx="24409400" cy="12446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219200"/>
            </a:xfrm>
            <a:custGeom>
              <a:avLst/>
              <a:gdLst/>
              <a:ahLst/>
              <a:cxnLst/>
              <a:rect l="l" t="t" r="r" b="b"/>
              <a:pathLst>
                <a:path w="24384000" h="12192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244600"/>
            </a:xfrm>
            <a:custGeom>
              <a:avLst/>
              <a:gdLst/>
              <a:ahLst/>
              <a:cxnLst/>
              <a:rect l="l" t="t" r="r" b="b"/>
              <a:pathLst>
                <a:path w="24409400" h="12446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231900"/>
                  </a:lnTo>
                  <a:cubicBezTo>
                    <a:pt x="24409400" y="1238885"/>
                    <a:pt x="24403686" y="1244600"/>
                    <a:pt x="24396700" y="1244600"/>
                  </a:cubicBezTo>
                  <a:lnTo>
                    <a:pt x="12700" y="1244600"/>
                  </a:lnTo>
                  <a:cubicBezTo>
                    <a:pt x="5715" y="1244600"/>
                    <a:pt x="0" y="1238885"/>
                    <a:pt x="0" y="1231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31900"/>
                  </a:lnTo>
                  <a:lnTo>
                    <a:pt x="12700" y="1231900"/>
                  </a:lnTo>
                  <a:lnTo>
                    <a:pt x="12700" y="1219200"/>
                  </a:lnTo>
                  <a:lnTo>
                    <a:pt x="24396700" y="1219200"/>
                  </a:lnTo>
                  <a:lnTo>
                    <a:pt x="24396700" y="1231900"/>
                  </a:lnTo>
                  <a:lnTo>
                    <a:pt x="24384000" y="12319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F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707981" y="2974182"/>
            <a:ext cx="4872038" cy="4512466"/>
            <a:chOff x="0" y="0"/>
            <a:chExt cx="6496050" cy="6016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96050" cy="6016625"/>
            </a:xfrm>
            <a:custGeom>
              <a:avLst/>
              <a:gdLst/>
              <a:ahLst/>
              <a:cxnLst/>
              <a:rect l="l" t="t" r="r" b="b"/>
              <a:pathLst>
                <a:path w="6496050" h="6016625">
                  <a:moveTo>
                    <a:pt x="0" y="0"/>
                  </a:moveTo>
                  <a:lnTo>
                    <a:pt x="6496050" y="0"/>
                  </a:lnTo>
                  <a:lnTo>
                    <a:pt x="6496050" y="6016625"/>
                  </a:lnTo>
                  <a:lnTo>
                    <a:pt x="0" y="6016625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 t="-3984" b="-39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915900" y="970597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39">
                  <a:solidFill>
                    <a:srgbClr val="898989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9525" y="10184620"/>
            <a:ext cx="18297525" cy="178419"/>
            <a:chOff x="0" y="0"/>
            <a:chExt cx="4819101" cy="469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9101" cy="46991"/>
            </a:xfrm>
            <a:custGeom>
              <a:avLst/>
              <a:gdLst/>
              <a:ahLst/>
              <a:cxnLst/>
              <a:rect l="l" t="t" r="r" b="b"/>
              <a:pathLst>
                <a:path w="4819101" h="46991">
                  <a:moveTo>
                    <a:pt x="0" y="0"/>
                  </a:moveTo>
                  <a:lnTo>
                    <a:pt x="4819101" y="0"/>
                  </a:lnTo>
                  <a:lnTo>
                    <a:pt x="4819101" y="46991"/>
                  </a:lnTo>
                  <a:lnTo>
                    <a:pt x="0" y="46991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4819101" cy="46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102225" y="2974182"/>
            <a:ext cx="6706426" cy="3367888"/>
          </a:xfrm>
          <a:custGeom>
            <a:avLst/>
            <a:gdLst/>
            <a:ahLst/>
            <a:cxnLst/>
            <a:rect l="l" t="t" r="r" b="b"/>
            <a:pathLst>
              <a:path w="6706426" h="3367888">
                <a:moveTo>
                  <a:pt x="0" y="0"/>
                </a:moveTo>
                <a:lnTo>
                  <a:pt x="6706426" y="0"/>
                </a:lnTo>
                <a:lnTo>
                  <a:pt x="6706426" y="3367888"/>
                </a:lnTo>
                <a:lnTo>
                  <a:pt x="0" y="3367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79045" y="7691450"/>
            <a:ext cx="1708955" cy="2493170"/>
          </a:xfrm>
          <a:custGeom>
            <a:avLst/>
            <a:gdLst/>
            <a:ahLst/>
            <a:cxnLst/>
            <a:rect l="l" t="t" r="r" b="b"/>
            <a:pathLst>
              <a:path w="1708955" h="2493170">
                <a:moveTo>
                  <a:pt x="0" y="0"/>
                </a:moveTo>
                <a:lnTo>
                  <a:pt x="1708955" y="0"/>
                </a:lnTo>
                <a:lnTo>
                  <a:pt x="1708955" y="2493170"/>
                </a:lnTo>
                <a:lnTo>
                  <a:pt x="0" y="2493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aphicFrame>
        <p:nvGraphicFramePr>
          <p:cNvPr id="15" name="Object 15"/>
          <p:cNvGraphicFramePr/>
          <p:nvPr>
            <p:extLst>
              <p:ext uri="{D42A27DB-BD31-4B8C-83A1-F6EECF244321}">
                <p14:modId xmlns:p14="http://schemas.microsoft.com/office/powerpoint/2010/main" val="1371603541"/>
              </p:ext>
            </p:extLst>
          </p:nvPr>
        </p:nvGraphicFramePr>
        <p:xfrm>
          <a:off x="-41275" y="3848100"/>
          <a:ext cx="12327450" cy="876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4033500" imgH="10566400" progId="Excel.Sheet.12">
                  <p:embed/>
                </p:oleObj>
              </mc:Choice>
              <mc:Fallback>
                <p:oleObj name="Worksheet" r:id="rId5" imgW="14033500" imgH="10566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41275" y="3848100"/>
                        <a:ext cx="12327450" cy="876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6"/>
          <p:cNvSpPr txBox="1"/>
          <p:nvPr/>
        </p:nvSpPr>
        <p:spPr>
          <a:xfrm>
            <a:off x="1028700" y="1028700"/>
            <a:ext cx="1078230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99"/>
              </a:lnSpc>
              <a:spcBef>
                <a:spcPct val="0"/>
              </a:spcBef>
            </a:pPr>
            <a:r>
              <a:rPr lang="en-US" sz="5499" b="1" spc="-120" dirty="0">
                <a:solidFill>
                  <a:srgbClr val="C0011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Monte Carlo Simulation: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1971675"/>
            <a:ext cx="17259300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To estimate </a:t>
            </a:r>
            <a:r>
              <a:rPr lang="en-US" sz="2199" spc="116" dirty="0" err="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DMart’s</a:t>
            </a: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future stock price movement, we used a Monte Carlo simulation with 500 iterations over a </a:t>
            </a:r>
          </a:p>
          <a:p>
            <a:pPr algn="l">
              <a:lnSpc>
                <a:spcPts val="2639"/>
              </a:lnSpc>
            </a:pP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30-day horizon. The simulation assumes returns are normally distributed with mean and volatility based on </a:t>
            </a:r>
          </a:p>
          <a:p>
            <a:pPr algn="l">
              <a:lnSpc>
                <a:spcPts val="2639"/>
              </a:lnSpc>
            </a:pP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historical daily returns.</a:t>
            </a:r>
          </a:p>
          <a:p>
            <a:pPr algn="l">
              <a:lnSpc>
                <a:spcPts val="2639"/>
              </a:lnSpc>
            </a:pPr>
            <a:endParaRPr lang="en-US" sz="2199" spc="116" dirty="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Expected Price (mean): ₹4851.64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Median Price: ₹4838.68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5% – 95% Confidence Interval: ₹4177.46 – ₹5590.37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65524" y="6342070"/>
            <a:ext cx="426517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spc="-3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Monte Carlo projects possible price paths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933450"/>
            <a:chOff x="0" y="0"/>
            <a:chExt cx="24409400" cy="12446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219200"/>
            </a:xfrm>
            <a:custGeom>
              <a:avLst/>
              <a:gdLst/>
              <a:ahLst/>
              <a:cxnLst/>
              <a:rect l="l" t="t" r="r" b="b"/>
              <a:pathLst>
                <a:path w="24384000" h="12192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244600"/>
            </a:xfrm>
            <a:custGeom>
              <a:avLst/>
              <a:gdLst/>
              <a:ahLst/>
              <a:cxnLst/>
              <a:rect l="l" t="t" r="r" b="b"/>
              <a:pathLst>
                <a:path w="24409400" h="12446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231900"/>
                  </a:lnTo>
                  <a:cubicBezTo>
                    <a:pt x="24409400" y="1238885"/>
                    <a:pt x="24403686" y="1244600"/>
                    <a:pt x="24396700" y="1244600"/>
                  </a:cubicBezTo>
                  <a:lnTo>
                    <a:pt x="12700" y="1244600"/>
                  </a:lnTo>
                  <a:cubicBezTo>
                    <a:pt x="5715" y="1244600"/>
                    <a:pt x="0" y="1238885"/>
                    <a:pt x="0" y="1231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31900"/>
                  </a:lnTo>
                  <a:lnTo>
                    <a:pt x="12700" y="1231900"/>
                  </a:lnTo>
                  <a:lnTo>
                    <a:pt x="12700" y="1219200"/>
                  </a:lnTo>
                  <a:lnTo>
                    <a:pt x="24396700" y="1219200"/>
                  </a:lnTo>
                  <a:lnTo>
                    <a:pt x="24396700" y="1231900"/>
                  </a:lnTo>
                  <a:lnTo>
                    <a:pt x="24384000" y="12319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F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707981" y="2974182"/>
            <a:ext cx="4872038" cy="4512466"/>
            <a:chOff x="0" y="0"/>
            <a:chExt cx="6496050" cy="6016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96050" cy="6016625"/>
            </a:xfrm>
            <a:custGeom>
              <a:avLst/>
              <a:gdLst/>
              <a:ahLst/>
              <a:cxnLst/>
              <a:rect l="l" t="t" r="r" b="b"/>
              <a:pathLst>
                <a:path w="6496050" h="6016625">
                  <a:moveTo>
                    <a:pt x="0" y="0"/>
                  </a:moveTo>
                  <a:lnTo>
                    <a:pt x="6496050" y="0"/>
                  </a:lnTo>
                  <a:lnTo>
                    <a:pt x="6496050" y="6016625"/>
                  </a:lnTo>
                  <a:lnTo>
                    <a:pt x="0" y="6016625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 t="-3984" b="-39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-9525" y="10184620"/>
            <a:ext cx="18297525" cy="178419"/>
            <a:chOff x="0" y="0"/>
            <a:chExt cx="4819101" cy="469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9101" cy="46991"/>
            </a:xfrm>
            <a:custGeom>
              <a:avLst/>
              <a:gdLst/>
              <a:ahLst/>
              <a:cxnLst/>
              <a:rect l="l" t="t" r="r" b="b"/>
              <a:pathLst>
                <a:path w="4819101" h="46991">
                  <a:moveTo>
                    <a:pt x="0" y="0"/>
                  </a:moveTo>
                  <a:lnTo>
                    <a:pt x="4819101" y="0"/>
                  </a:lnTo>
                  <a:lnTo>
                    <a:pt x="4819101" y="46991"/>
                  </a:lnTo>
                  <a:lnTo>
                    <a:pt x="0" y="46991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4819101" cy="46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aphicFrame>
        <p:nvGraphicFramePr>
          <p:cNvPr id="10" name="Object 10"/>
          <p:cNvGraphicFramePr/>
          <p:nvPr>
            <p:extLst>
              <p:ext uri="{D42A27DB-BD31-4B8C-83A1-F6EECF244321}">
                <p14:modId xmlns:p14="http://schemas.microsoft.com/office/powerpoint/2010/main" val="2617677904"/>
              </p:ext>
            </p:extLst>
          </p:nvPr>
        </p:nvGraphicFramePr>
        <p:xfrm>
          <a:off x="416087" y="3583795"/>
          <a:ext cx="9429750" cy="628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1315700" imgH="8166100" progId="Excel.Sheet.12">
                  <p:embed/>
                </p:oleObj>
              </mc:Choice>
              <mc:Fallback>
                <p:oleObj name="Worksheet" r:id="rId3" imgW="11315700" imgH="8166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6087" y="3583795"/>
                        <a:ext cx="9429750" cy="628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reeform 11"/>
          <p:cNvSpPr/>
          <p:nvPr/>
        </p:nvSpPr>
        <p:spPr>
          <a:xfrm>
            <a:off x="8397129" y="4289502"/>
            <a:ext cx="7413110" cy="3511473"/>
          </a:xfrm>
          <a:custGeom>
            <a:avLst/>
            <a:gdLst/>
            <a:ahLst/>
            <a:cxnLst/>
            <a:rect l="l" t="t" r="r" b="b"/>
            <a:pathLst>
              <a:path w="7413110" h="3511473">
                <a:moveTo>
                  <a:pt x="0" y="0"/>
                </a:moveTo>
                <a:lnTo>
                  <a:pt x="7413110" y="0"/>
                </a:lnTo>
                <a:lnTo>
                  <a:pt x="7413110" y="3511473"/>
                </a:lnTo>
                <a:lnTo>
                  <a:pt x="0" y="35114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028700"/>
            <a:ext cx="1055131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99"/>
              </a:lnSpc>
              <a:spcBef>
                <a:spcPct val="0"/>
              </a:spcBef>
            </a:pPr>
            <a:r>
              <a:rPr lang="en-US" sz="5499" b="1" spc="-120" dirty="0">
                <a:solidFill>
                  <a:srgbClr val="C0011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Prediction &amp; Evaluation: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983582"/>
            <a:ext cx="9921121" cy="199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📅 Period: 2nd – 12th Sept 2025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MAE: ₹83.75 → Avg. forecast error ~₹84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RMSE: ₹106.40 → Moderate error magnitude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Reliability: ✅ 100% (all actual prices inside 5%-95% CI)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Direction Accuracy: ⚡ 37.5% (weak on daily up/down movement)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Daily Error: -1.36% to +4.23% (uncertainty grew with time)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124825"/>
            <a:ext cx="11529656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🔑 Insights: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All prices stayed within the 5–95% confidence range → Reliability = 100% ✅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Errors small early on, but grew with time (classic Monte Carlo behavior).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Biggest deviation: +4.23% on 11-Sep.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0372564"/>
            <a:chOff x="0" y="0"/>
            <a:chExt cx="24409400" cy="1383008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56674" y="39782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7233900" y="12954000"/>
              <a:ext cx="5486400" cy="730250"/>
              <a:chOff x="0" y="0"/>
              <a:chExt cx="54864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8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3592193"/>
              <a:ext cx="24396700" cy="237892"/>
              <a:chOff x="0" y="0"/>
              <a:chExt cx="4819101" cy="4699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916673" y="5016500"/>
              <a:ext cx="12776636" cy="7878465"/>
            </a:xfrm>
            <a:custGeom>
              <a:avLst/>
              <a:gdLst/>
              <a:ahLst/>
              <a:cxnLst/>
              <a:rect l="l" t="t" r="r" b="b"/>
              <a:pathLst>
                <a:path w="12776636" h="7878465">
                  <a:moveTo>
                    <a:pt x="0" y="0"/>
                  </a:moveTo>
                  <a:lnTo>
                    <a:pt x="12776636" y="0"/>
                  </a:lnTo>
                  <a:lnTo>
                    <a:pt x="12776636" y="7878465"/>
                  </a:lnTo>
                  <a:lnTo>
                    <a:pt x="0" y="7878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9977100" y="8955733"/>
              <a:ext cx="4165056" cy="4363392"/>
            </a:xfrm>
            <a:custGeom>
              <a:avLst/>
              <a:gdLst/>
              <a:ahLst/>
              <a:cxnLst/>
              <a:rect l="l" t="t" r="r" b="b"/>
              <a:pathLst>
                <a:path w="4165056" h="4363392">
                  <a:moveTo>
                    <a:pt x="0" y="0"/>
                  </a:moveTo>
                  <a:lnTo>
                    <a:pt x="4165056" y="0"/>
                  </a:lnTo>
                  <a:lnTo>
                    <a:pt x="4165056" y="4363392"/>
                  </a:lnTo>
                  <a:lnTo>
                    <a:pt x="0" y="4363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1384300" y="1384300"/>
              <a:ext cx="11180982" cy="1104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2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Sensitivity Analysis: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97000" y="2638425"/>
              <a:ext cx="21628100" cy="879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  <a:spcBef>
                  <a:spcPct val="0"/>
                </a:spcBef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To understand how sensitive DMart’s stock is to sudden price shocks, we applied hypothetical changes (±5%, ±10%, ±20%) to the last observed closing price and estimated the adjusted predicted values.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97000" y="3667125"/>
              <a:ext cx="6601967" cy="1323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If today’s price changes by ±20%: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–20% → ₹3695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+20% → ₹5543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0372564"/>
            <a:chOff x="0" y="0"/>
            <a:chExt cx="24409400" cy="1383008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56674" y="39782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7233900" y="12954000"/>
              <a:ext cx="5486400" cy="730250"/>
              <a:chOff x="0" y="0"/>
              <a:chExt cx="54864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1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3592193"/>
              <a:ext cx="24396700" cy="237892"/>
              <a:chOff x="0" y="0"/>
              <a:chExt cx="4819101" cy="4699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384300" y="4673600"/>
              <a:ext cx="10315029" cy="6601619"/>
            </a:xfrm>
            <a:custGeom>
              <a:avLst/>
              <a:gdLst/>
              <a:ahLst/>
              <a:cxnLst/>
              <a:rect l="l" t="t" r="r" b="b"/>
              <a:pathLst>
                <a:path w="10315029" h="6601619">
                  <a:moveTo>
                    <a:pt x="0" y="0"/>
                  </a:moveTo>
                  <a:lnTo>
                    <a:pt x="10315029" y="0"/>
                  </a:lnTo>
                  <a:lnTo>
                    <a:pt x="10315029" y="6601619"/>
                  </a:lnTo>
                  <a:lnTo>
                    <a:pt x="0" y="6601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9481387" y="8936434"/>
              <a:ext cx="4640076" cy="4382691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1384300" y="1384300"/>
              <a:ext cx="6962115" cy="1104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2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Risk Metrics: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4300" y="2638425"/>
              <a:ext cx="9546590" cy="1768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Annualized Volatility: 27.46%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VaR (95%): –2.33%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CVaR (95%): –2.7%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Sharpe Ratio: –1.6 (weak risk-adjusted returns)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933450"/>
            <a:chOff x="0" y="0"/>
            <a:chExt cx="24409400" cy="12446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219200"/>
            </a:xfrm>
            <a:custGeom>
              <a:avLst/>
              <a:gdLst/>
              <a:ahLst/>
              <a:cxnLst/>
              <a:rect l="l" t="t" r="r" b="b"/>
              <a:pathLst>
                <a:path w="24384000" h="12192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244600"/>
            </a:xfrm>
            <a:custGeom>
              <a:avLst/>
              <a:gdLst/>
              <a:ahLst/>
              <a:cxnLst/>
              <a:rect l="l" t="t" r="r" b="b"/>
              <a:pathLst>
                <a:path w="24409400" h="12446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231900"/>
                  </a:lnTo>
                  <a:cubicBezTo>
                    <a:pt x="24409400" y="1238885"/>
                    <a:pt x="24403686" y="1244600"/>
                    <a:pt x="24396700" y="1244600"/>
                  </a:cubicBezTo>
                  <a:lnTo>
                    <a:pt x="12700" y="1244600"/>
                  </a:lnTo>
                  <a:cubicBezTo>
                    <a:pt x="5715" y="1244600"/>
                    <a:pt x="0" y="1238885"/>
                    <a:pt x="0" y="1231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31900"/>
                  </a:lnTo>
                  <a:lnTo>
                    <a:pt x="12700" y="1231900"/>
                  </a:lnTo>
                  <a:lnTo>
                    <a:pt x="12700" y="1219200"/>
                  </a:lnTo>
                  <a:lnTo>
                    <a:pt x="24396700" y="1219200"/>
                  </a:lnTo>
                  <a:lnTo>
                    <a:pt x="24396700" y="1231900"/>
                  </a:lnTo>
                  <a:lnTo>
                    <a:pt x="24384000" y="12319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F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707981" y="2974182"/>
            <a:ext cx="4872038" cy="4512466"/>
            <a:chOff x="0" y="0"/>
            <a:chExt cx="6496050" cy="6016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96050" cy="6016625"/>
            </a:xfrm>
            <a:custGeom>
              <a:avLst/>
              <a:gdLst/>
              <a:ahLst/>
              <a:cxnLst/>
              <a:rect l="l" t="t" r="r" b="b"/>
              <a:pathLst>
                <a:path w="6496050" h="6016625">
                  <a:moveTo>
                    <a:pt x="0" y="0"/>
                  </a:moveTo>
                  <a:lnTo>
                    <a:pt x="6496050" y="0"/>
                  </a:lnTo>
                  <a:lnTo>
                    <a:pt x="6496050" y="6016625"/>
                  </a:lnTo>
                  <a:lnTo>
                    <a:pt x="0" y="6016625"/>
                  </a:lnTo>
                  <a:close/>
                </a:path>
              </a:pathLst>
            </a:custGeom>
            <a:blipFill>
              <a:blip r:embed="rId4">
                <a:alphaModFix amt="19999"/>
              </a:blip>
              <a:stretch>
                <a:fillRect t="-3984" b="-39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915900" y="970597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39">
                  <a:solidFill>
                    <a:srgbClr val="898989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9525" y="10184620"/>
            <a:ext cx="18297525" cy="178419"/>
            <a:chOff x="0" y="0"/>
            <a:chExt cx="4819101" cy="469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9101" cy="46991"/>
            </a:xfrm>
            <a:custGeom>
              <a:avLst/>
              <a:gdLst/>
              <a:ahLst/>
              <a:cxnLst/>
              <a:rect l="l" t="t" r="r" b="b"/>
              <a:pathLst>
                <a:path w="4819101" h="46991">
                  <a:moveTo>
                    <a:pt x="0" y="0"/>
                  </a:moveTo>
                  <a:lnTo>
                    <a:pt x="4819101" y="0"/>
                  </a:lnTo>
                  <a:lnTo>
                    <a:pt x="4819101" y="46991"/>
                  </a:lnTo>
                  <a:lnTo>
                    <a:pt x="0" y="46991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4819101" cy="46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pic>
        <p:nvPicPr>
          <p:cNvPr id="13" name="Picture 1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1028700" y="2687241"/>
            <a:ext cx="7474948" cy="6457948"/>
          </a:xfrm>
          <a:prstGeom prst="rect">
            <a:avLst/>
          </a:prstGeom>
        </p:spPr>
      </p:pic>
      <p:sp>
        <p:nvSpPr>
          <p:cNvPr id="14" name="Freeform 14"/>
          <p:cNvSpPr/>
          <p:nvPr/>
        </p:nvSpPr>
        <p:spPr>
          <a:xfrm>
            <a:off x="13939808" y="5506112"/>
            <a:ext cx="4145635" cy="4473707"/>
          </a:xfrm>
          <a:custGeom>
            <a:avLst/>
            <a:gdLst/>
            <a:ahLst/>
            <a:cxnLst/>
            <a:rect l="l" t="t" r="r" b="b"/>
            <a:pathLst>
              <a:path w="4145635" h="4473707">
                <a:moveTo>
                  <a:pt x="0" y="0"/>
                </a:moveTo>
                <a:lnTo>
                  <a:pt x="4145635" y="0"/>
                </a:lnTo>
                <a:lnTo>
                  <a:pt x="4145635" y="4473707"/>
                </a:lnTo>
                <a:lnTo>
                  <a:pt x="0" y="44737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1028700"/>
            <a:ext cx="1055131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99"/>
              </a:lnSpc>
              <a:spcBef>
                <a:spcPct val="0"/>
              </a:spcBef>
            </a:pPr>
            <a:r>
              <a:rPr lang="en-US" sz="5499" b="1" spc="-120" dirty="0">
                <a:solidFill>
                  <a:srgbClr val="C0011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Applications Developed: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866900"/>
            <a:ext cx="8962906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DMart-Specific App → Predict tomorrow’s price + risk metrics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933450"/>
            <a:chOff x="0" y="0"/>
            <a:chExt cx="24409400" cy="12446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219200"/>
            </a:xfrm>
            <a:custGeom>
              <a:avLst/>
              <a:gdLst/>
              <a:ahLst/>
              <a:cxnLst/>
              <a:rect l="l" t="t" r="r" b="b"/>
              <a:pathLst>
                <a:path w="24384000" h="12192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244600"/>
            </a:xfrm>
            <a:custGeom>
              <a:avLst/>
              <a:gdLst/>
              <a:ahLst/>
              <a:cxnLst/>
              <a:rect l="l" t="t" r="r" b="b"/>
              <a:pathLst>
                <a:path w="24409400" h="12446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231900"/>
                  </a:lnTo>
                  <a:cubicBezTo>
                    <a:pt x="24409400" y="1238885"/>
                    <a:pt x="24403686" y="1244600"/>
                    <a:pt x="24396700" y="1244600"/>
                  </a:cubicBezTo>
                  <a:lnTo>
                    <a:pt x="12700" y="1244600"/>
                  </a:lnTo>
                  <a:cubicBezTo>
                    <a:pt x="5715" y="1244600"/>
                    <a:pt x="0" y="1238885"/>
                    <a:pt x="0" y="1231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31900"/>
                  </a:lnTo>
                  <a:lnTo>
                    <a:pt x="12700" y="1231900"/>
                  </a:lnTo>
                  <a:lnTo>
                    <a:pt x="12700" y="1219200"/>
                  </a:lnTo>
                  <a:lnTo>
                    <a:pt x="24396700" y="1219200"/>
                  </a:lnTo>
                  <a:lnTo>
                    <a:pt x="24396700" y="1231900"/>
                  </a:lnTo>
                  <a:lnTo>
                    <a:pt x="24384000" y="12319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F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707981" y="2974182"/>
            <a:ext cx="4872038" cy="4512466"/>
            <a:chOff x="0" y="0"/>
            <a:chExt cx="6496050" cy="6016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96050" cy="6016625"/>
            </a:xfrm>
            <a:custGeom>
              <a:avLst/>
              <a:gdLst/>
              <a:ahLst/>
              <a:cxnLst/>
              <a:rect l="l" t="t" r="r" b="b"/>
              <a:pathLst>
                <a:path w="6496050" h="6016625">
                  <a:moveTo>
                    <a:pt x="0" y="0"/>
                  </a:moveTo>
                  <a:lnTo>
                    <a:pt x="6496050" y="0"/>
                  </a:lnTo>
                  <a:lnTo>
                    <a:pt x="6496050" y="6016625"/>
                  </a:lnTo>
                  <a:lnTo>
                    <a:pt x="0" y="6016625"/>
                  </a:lnTo>
                  <a:close/>
                </a:path>
              </a:pathLst>
            </a:custGeom>
            <a:blipFill>
              <a:blip r:embed="rId4">
                <a:alphaModFix amt="19999"/>
              </a:blip>
              <a:stretch>
                <a:fillRect t="-3984" b="-39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915900" y="970597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39">
                  <a:solidFill>
                    <a:srgbClr val="898989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9525" y="10184620"/>
            <a:ext cx="18297525" cy="178419"/>
            <a:chOff x="0" y="0"/>
            <a:chExt cx="4819101" cy="469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9101" cy="46991"/>
            </a:xfrm>
            <a:custGeom>
              <a:avLst/>
              <a:gdLst/>
              <a:ahLst/>
              <a:cxnLst/>
              <a:rect l="l" t="t" r="r" b="b"/>
              <a:pathLst>
                <a:path w="4819101" h="46991">
                  <a:moveTo>
                    <a:pt x="0" y="0"/>
                  </a:moveTo>
                  <a:lnTo>
                    <a:pt x="4819101" y="0"/>
                  </a:lnTo>
                  <a:lnTo>
                    <a:pt x="4819101" y="46991"/>
                  </a:lnTo>
                  <a:lnTo>
                    <a:pt x="0" y="46991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4819101" cy="46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pic>
        <p:nvPicPr>
          <p:cNvPr id="13" name="Picture 1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1040780" y="2125266"/>
            <a:ext cx="9296050" cy="6924393"/>
          </a:xfrm>
          <a:prstGeom prst="rect">
            <a:avLst/>
          </a:prstGeom>
        </p:spPr>
      </p:pic>
      <p:sp>
        <p:nvSpPr>
          <p:cNvPr id="14" name="Freeform 14"/>
          <p:cNvSpPr/>
          <p:nvPr/>
        </p:nvSpPr>
        <p:spPr>
          <a:xfrm>
            <a:off x="13867093" y="5506112"/>
            <a:ext cx="4145635" cy="4473707"/>
          </a:xfrm>
          <a:custGeom>
            <a:avLst/>
            <a:gdLst/>
            <a:ahLst/>
            <a:cxnLst/>
            <a:rect l="l" t="t" r="r" b="b"/>
            <a:pathLst>
              <a:path w="4145635" h="4473707">
                <a:moveTo>
                  <a:pt x="0" y="0"/>
                </a:moveTo>
                <a:lnTo>
                  <a:pt x="4145635" y="0"/>
                </a:lnTo>
                <a:lnTo>
                  <a:pt x="4145635" y="4473707"/>
                </a:lnTo>
                <a:lnTo>
                  <a:pt x="0" y="44737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40780" y="1639491"/>
            <a:ext cx="9514047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Universal CSV App → Upload any stock CSV, get next-day forecast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0372564"/>
            <a:chOff x="0" y="0"/>
            <a:chExt cx="24409400" cy="1383008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56674" y="39782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7233900" y="12954000"/>
              <a:ext cx="5486400" cy="730250"/>
              <a:chOff x="0" y="0"/>
              <a:chExt cx="54864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8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3592193"/>
              <a:ext cx="24396700" cy="237892"/>
              <a:chOff x="0" y="0"/>
              <a:chExt cx="4819101" cy="4699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8631536" y="7832725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384300" y="1384300"/>
              <a:ext cx="6245224" cy="1104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2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Discussion: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4300" y="2638425"/>
              <a:ext cx="19990436" cy="2212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📈 Positive but Volatile: DMart gives strong long-term returns, but volatility (27%) &gt; implied by Beta.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🛡️ Diversification: Weak correlation (0.21) with NIFTY → acts defensively in a portfolio.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⚖️ Risk-adjusted Returns: Sharpe Ratio (-1.6) &lt; NIFTY → less attractive for risk-averse investors.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🔮 Prediction Models: Monte Carlo &amp; stats capture range/trend, weak on short-term direction.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🐂🐻 Regime Detection: Markov/HMM reveal bull &amp; bear phases → guides entry/exit timing.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0372563"/>
            <a:chOff x="0" y="0"/>
            <a:chExt cx="24409400" cy="1383008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56674" y="39782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7233900" y="12954000"/>
              <a:ext cx="5486400" cy="730250"/>
              <a:chOff x="0" y="0"/>
              <a:chExt cx="54864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8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3592193"/>
              <a:ext cx="24396700" cy="237892"/>
              <a:chOff x="0" y="0"/>
              <a:chExt cx="4819101" cy="4699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8121420" y="8983076"/>
              <a:ext cx="6015327" cy="4336049"/>
            </a:xfrm>
            <a:custGeom>
              <a:avLst/>
              <a:gdLst/>
              <a:ahLst/>
              <a:cxnLst/>
              <a:rect l="l" t="t" r="r" b="b"/>
              <a:pathLst>
                <a:path w="6015327" h="4336049">
                  <a:moveTo>
                    <a:pt x="0" y="0"/>
                  </a:moveTo>
                  <a:lnTo>
                    <a:pt x="6015327" y="0"/>
                  </a:lnTo>
                  <a:lnTo>
                    <a:pt x="6015327" y="4336049"/>
                  </a:lnTo>
                  <a:lnTo>
                    <a:pt x="0" y="4336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384300" y="1384300"/>
              <a:ext cx="13563600" cy="11285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20" dirty="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Limitations &amp; Remarks: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4300" y="2638425"/>
              <a:ext cx="21640800" cy="3990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Close Price Usage: Only “Close” values were available in the dataset; Adjusted Close (corporate actions) was not incorporated.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Short Horizon: Forecasts were limited to ~10–30 trading days; longer horizons were not tested.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Baseline Comparison Missing: Models weren’t benchmarked against simpler methods (e.g., Random Walk).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Direction Accuracy: While ranges were reliable (100% within bounds), day-to-day direction accuracy was modest (~37%).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Model Assumptions: Methods like Monte Carlo, Markov, and HMM capture randomness and trends but can’t account for external shocks (e.g., policy changes, competitor impact).</a:t>
              </a:r>
            </a:p>
            <a:p>
              <a:pPr algn="l">
                <a:lnSpc>
                  <a:spcPts val="2639"/>
                </a:lnSpc>
                <a:spcBef>
                  <a:spcPct val="0"/>
                </a:spcBef>
              </a:pPr>
              <a:endParaRPr lang="en-US" sz="2199" spc="11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0372563"/>
            <a:chOff x="0" y="0"/>
            <a:chExt cx="24409400" cy="1383008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56674" y="39782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7233900" y="12954000"/>
              <a:ext cx="5486400" cy="730250"/>
              <a:chOff x="0" y="0"/>
              <a:chExt cx="54864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8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3592193"/>
              <a:ext cx="24396700" cy="237892"/>
              <a:chOff x="0" y="0"/>
              <a:chExt cx="4819101" cy="4699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8644568" y="8861064"/>
              <a:ext cx="5752132" cy="4731129"/>
            </a:xfrm>
            <a:custGeom>
              <a:avLst/>
              <a:gdLst/>
              <a:ahLst/>
              <a:cxnLst/>
              <a:rect l="l" t="t" r="r" b="b"/>
              <a:pathLst>
                <a:path w="5752132" h="4731129">
                  <a:moveTo>
                    <a:pt x="0" y="0"/>
                  </a:moveTo>
                  <a:lnTo>
                    <a:pt x="5752132" y="0"/>
                  </a:lnTo>
                  <a:lnTo>
                    <a:pt x="5752132" y="4731129"/>
                  </a:lnTo>
                  <a:lnTo>
                    <a:pt x="0" y="4731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8956675" y="1384300"/>
              <a:ext cx="708517" cy="1104900"/>
            </a:xfrm>
            <a:custGeom>
              <a:avLst/>
              <a:gdLst/>
              <a:ahLst/>
              <a:cxnLst/>
              <a:rect l="l" t="t" r="r" b="b"/>
              <a:pathLst>
                <a:path w="708517" h="1104900">
                  <a:moveTo>
                    <a:pt x="0" y="0"/>
                  </a:moveTo>
                  <a:lnTo>
                    <a:pt x="708517" y="0"/>
                  </a:lnTo>
                  <a:lnTo>
                    <a:pt x="708517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1384300" y="1384300"/>
              <a:ext cx="7572375" cy="11285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20" dirty="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Future Work: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4300" y="2638425"/>
              <a:ext cx="21640800" cy="3546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Use Adjusted Close prices instead of raw Close for more accurate return calculations.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Integrate macroeconomic indicators (inflation, consumer demand, competition from quick-commerce apps) to improve forecasting.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Benchmark against baseline models (e.g., Random Walk, ARIMA) for stronger evaluation.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Enhance prediction models with hybrid approaches (HMM + Monte Carlo, Deep Learning).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Portfolio-level analysis: Extend beyond DMart to multi-stock or sector-based investment strategies.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Deploy enhanced apps with live API data for real-time price prediction &amp; trading signals.</a:t>
              </a:r>
            </a:p>
            <a:p>
              <a:pPr algn="l">
                <a:lnSpc>
                  <a:spcPts val="2639"/>
                </a:lnSpc>
                <a:spcBef>
                  <a:spcPct val="0"/>
                </a:spcBef>
              </a:pPr>
              <a:endPara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0372564"/>
            <a:chOff x="0" y="0"/>
            <a:chExt cx="24409400" cy="1383008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56674" y="39782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7233900" y="12954000"/>
              <a:ext cx="5486400" cy="730250"/>
              <a:chOff x="0" y="0"/>
              <a:chExt cx="54864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8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3592193"/>
              <a:ext cx="24396700" cy="237892"/>
              <a:chOff x="0" y="0"/>
              <a:chExt cx="4819101" cy="4699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8212942" y="8976436"/>
              <a:ext cx="5783242" cy="4342689"/>
            </a:xfrm>
            <a:custGeom>
              <a:avLst/>
              <a:gdLst/>
              <a:ahLst/>
              <a:cxnLst/>
              <a:rect l="l" t="t" r="r" b="b"/>
              <a:pathLst>
                <a:path w="5783242" h="4342689">
                  <a:moveTo>
                    <a:pt x="0" y="0"/>
                  </a:moveTo>
                  <a:lnTo>
                    <a:pt x="5783242" y="0"/>
                  </a:lnTo>
                  <a:lnTo>
                    <a:pt x="5783242" y="4342689"/>
                  </a:lnTo>
                  <a:lnTo>
                    <a:pt x="0" y="4342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384300" y="1384300"/>
              <a:ext cx="7010460" cy="1104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2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Conclusion: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4300" y="2498725"/>
              <a:ext cx="21336000" cy="4879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Analysis showed DMart has higher volatility (27%) but is still classified as Beneficial in trend-based risk analysis.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Moving average crossovers and regime models (Markov/HMM) highlighted bullish/bearish phases for timing entries and exits.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Long-term returns are positive and comparable to NIFTY, but with higher short-term risk.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Comprehensive statistical tests, Sharpe Ratio, and Beta analysis quantified both returns and volatility.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Results suggest short-term risk is high, but long-term investment appears favorable for risk-tolerant investors.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Models like Monte Carlo captured price ranges reliably (100%), but short-term direction accuracy was limited (37%).</a:t>
              </a:r>
            </a:p>
            <a:p>
              <a:pPr algn="l">
                <a:lnSpc>
                  <a:spcPts val="2639"/>
                </a:lnSpc>
              </a:pPr>
              <a:endParaRPr lang="en-US" sz="2199" spc="11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0372564"/>
            <a:chOff x="0" y="0"/>
            <a:chExt cx="24409400" cy="1383008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8956674" y="3978276"/>
              <a:ext cx="6496050" cy="6016622"/>
              <a:chOff x="0" y="0"/>
              <a:chExt cx="6496050" cy="6016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2">
                  <a:alphaModFix amt="19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7233900" y="12954000"/>
              <a:ext cx="5486400" cy="730250"/>
              <a:chOff x="0" y="0"/>
              <a:chExt cx="54864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864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3025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486400" cy="730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spc="-39">
                    <a:solidFill>
                      <a:srgbClr val="89898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8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3592193"/>
              <a:ext cx="24396700" cy="237892"/>
              <a:chOff x="0" y="0"/>
              <a:chExt cx="4819101" cy="4699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9101" cy="46991"/>
              </a:xfrm>
              <a:custGeom>
                <a:avLst/>
                <a:gdLst/>
                <a:ahLst/>
                <a:cxnLst/>
                <a:rect l="l" t="t" r="r" b="b"/>
                <a:pathLst>
                  <a:path w="4819101" h="46991">
                    <a:moveTo>
                      <a:pt x="0" y="0"/>
                    </a:moveTo>
                    <a:lnTo>
                      <a:pt x="4819101" y="0"/>
                    </a:lnTo>
                    <a:lnTo>
                      <a:pt x="4819101" y="46991"/>
                    </a:lnTo>
                    <a:lnTo>
                      <a:pt x="0" y="46991"/>
                    </a:lnTo>
                    <a:close/>
                  </a:path>
                </a:pathLst>
              </a:custGeom>
              <a:solidFill>
                <a:srgbClr val="C112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4819101" cy="469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20377387" y="8013700"/>
              <a:ext cx="3684145" cy="5375045"/>
            </a:xfrm>
            <a:custGeom>
              <a:avLst/>
              <a:gdLst/>
              <a:ahLst/>
              <a:cxnLst/>
              <a:rect l="l" t="t" r="r" b="b"/>
              <a:pathLst>
                <a:path w="3684145" h="5375045">
                  <a:moveTo>
                    <a:pt x="0" y="0"/>
                  </a:moveTo>
                  <a:lnTo>
                    <a:pt x="3684145" y="0"/>
                  </a:lnTo>
                  <a:lnTo>
                    <a:pt x="3684145" y="5375045"/>
                  </a:lnTo>
                  <a:lnTo>
                    <a:pt x="0" y="5375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384300" y="1384300"/>
              <a:ext cx="6395640" cy="1104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599"/>
                </a:lnSpc>
                <a:spcBef>
                  <a:spcPct val="0"/>
                </a:spcBef>
              </a:pPr>
              <a:r>
                <a:rPr lang="en-US" sz="5499" b="1" spc="-120">
                  <a:solidFill>
                    <a:srgbClr val="C0011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References: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01137" y="2638425"/>
              <a:ext cx="22995563" cy="3990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· Data Sources</a:t>
              </a:r>
            </a:p>
            <a:p>
              <a:pPr marL="474979" lvl="1" indent="-237490" algn="l">
                <a:lnSpc>
                  <a:spcPts val="2639"/>
                </a:lnSpc>
                <a:buAutoNum type="arabicPeriod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Yahoo Finance – DMart Historical Stock Data. Retrieved via Python yfinance library, 2025. </a:t>
              </a:r>
              <a:r>
                <a:rPr lang="en-US" sz="2199" u="sng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  <a:hlinkClick r:id="rId4" action="ppaction://hlinksldjump"/>
                </a:rPr>
                <a:t>https://finance.yahoo.com</a:t>
              </a:r>
            </a:p>
            <a:p>
              <a:pPr marL="474979" lvl="1" indent="-237490" algn="l">
                <a:lnSpc>
                  <a:spcPts val="2639"/>
                </a:lnSpc>
                <a:buAutoNum type="arabicPeriod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National Stock Exchange of India (NSE) – DMart (DMART.NS) Stock Prices. Retrieved 2025. </a:t>
              </a:r>
              <a:r>
                <a:rPr lang="en-US" sz="2199" u="sng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  <a:hlinkClick r:id="rId4" action="ppaction://hlinksldjump"/>
                </a:rPr>
                <a:t>https://www.nseindia.com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Müller, A. C., &amp; Guido, S. (2016). Introduction to Machine Learning with Python. O’Reilly.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Dutt, S., Chandramouli, S., &amp; Das, A. K. (2015). Machine Learning. Pearson.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Tsay, R. S. (2010). Analysis of Financial Time Series. Wiley.</a:t>
              </a:r>
            </a:p>
            <a:p>
              <a:pPr marL="474979" lvl="1" indent="-237490" algn="l">
                <a:lnSpc>
                  <a:spcPts val="2639"/>
                </a:lnSpc>
                <a:buFont typeface="Arial"/>
                <a:buChar char="•"/>
              </a:pPr>
              <a:r>
                <a:rPr lang="en-US" sz="2199" spc="11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Damodaran, A. (2012). Investment Valuation. Wiley.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933450"/>
            <a:chOff x="0" y="0"/>
            <a:chExt cx="24409400" cy="12446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219200"/>
            </a:xfrm>
            <a:custGeom>
              <a:avLst/>
              <a:gdLst/>
              <a:ahLst/>
              <a:cxnLst/>
              <a:rect l="l" t="t" r="r" b="b"/>
              <a:pathLst>
                <a:path w="24384000" h="12192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244600"/>
            </a:xfrm>
            <a:custGeom>
              <a:avLst/>
              <a:gdLst/>
              <a:ahLst/>
              <a:cxnLst/>
              <a:rect l="l" t="t" r="r" b="b"/>
              <a:pathLst>
                <a:path w="24409400" h="12446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231900"/>
                  </a:lnTo>
                  <a:cubicBezTo>
                    <a:pt x="24409400" y="1238885"/>
                    <a:pt x="24403686" y="1244600"/>
                    <a:pt x="24396700" y="1244600"/>
                  </a:cubicBezTo>
                  <a:lnTo>
                    <a:pt x="12700" y="1244600"/>
                  </a:lnTo>
                  <a:cubicBezTo>
                    <a:pt x="5715" y="1244600"/>
                    <a:pt x="0" y="1238885"/>
                    <a:pt x="0" y="1231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31900"/>
                  </a:lnTo>
                  <a:lnTo>
                    <a:pt x="12700" y="1231900"/>
                  </a:lnTo>
                  <a:lnTo>
                    <a:pt x="12700" y="1219200"/>
                  </a:lnTo>
                  <a:lnTo>
                    <a:pt x="24396700" y="1219200"/>
                  </a:lnTo>
                  <a:lnTo>
                    <a:pt x="24396700" y="1231900"/>
                  </a:lnTo>
                  <a:lnTo>
                    <a:pt x="24384000" y="12319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F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707981" y="2974182"/>
            <a:ext cx="4872038" cy="4512466"/>
            <a:chOff x="0" y="0"/>
            <a:chExt cx="6496050" cy="6016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96050" cy="6016625"/>
            </a:xfrm>
            <a:custGeom>
              <a:avLst/>
              <a:gdLst/>
              <a:ahLst/>
              <a:cxnLst/>
              <a:rect l="l" t="t" r="r" b="b"/>
              <a:pathLst>
                <a:path w="6496050" h="6016625">
                  <a:moveTo>
                    <a:pt x="0" y="0"/>
                  </a:moveTo>
                  <a:lnTo>
                    <a:pt x="6496050" y="0"/>
                  </a:lnTo>
                  <a:lnTo>
                    <a:pt x="6496050" y="6016625"/>
                  </a:lnTo>
                  <a:lnTo>
                    <a:pt x="0" y="6016625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 t="-3984" b="-39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915900" y="970597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39">
                  <a:solidFill>
                    <a:srgbClr val="898989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9525" y="10184620"/>
            <a:ext cx="18297525" cy="178419"/>
            <a:chOff x="0" y="0"/>
            <a:chExt cx="4819101" cy="469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9101" cy="46991"/>
            </a:xfrm>
            <a:custGeom>
              <a:avLst/>
              <a:gdLst/>
              <a:ahLst/>
              <a:cxnLst/>
              <a:rect l="l" t="t" r="r" b="b"/>
              <a:pathLst>
                <a:path w="4819101" h="46991">
                  <a:moveTo>
                    <a:pt x="0" y="0"/>
                  </a:moveTo>
                  <a:lnTo>
                    <a:pt x="4819101" y="0"/>
                  </a:lnTo>
                  <a:lnTo>
                    <a:pt x="4819101" y="46991"/>
                  </a:lnTo>
                  <a:lnTo>
                    <a:pt x="0" y="46991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4819101" cy="46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973300" y="5978135"/>
            <a:ext cx="3149692" cy="4114800"/>
          </a:xfrm>
          <a:custGeom>
            <a:avLst/>
            <a:gdLst/>
            <a:ahLst/>
            <a:cxnLst/>
            <a:rect l="l" t="t" r="r" b="b"/>
            <a:pathLst>
              <a:path w="3149692" h="4114800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16575" y="1493924"/>
            <a:ext cx="1558500" cy="2679527"/>
          </a:xfrm>
          <a:custGeom>
            <a:avLst/>
            <a:gdLst/>
            <a:ahLst/>
            <a:cxnLst/>
            <a:rect l="l" t="t" r="r" b="b"/>
            <a:pathLst>
              <a:path w="1558500" h="2679527">
                <a:moveTo>
                  <a:pt x="0" y="0"/>
                </a:moveTo>
                <a:lnTo>
                  <a:pt x="1558501" y="0"/>
                </a:lnTo>
                <a:lnTo>
                  <a:pt x="1558501" y="2679527"/>
                </a:lnTo>
                <a:lnTo>
                  <a:pt x="0" y="26795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-9525" y="4733925"/>
            <a:ext cx="18276749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7500" b="1" spc="-164">
                <a:solidFill>
                  <a:srgbClr val="C0011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“The floor is open for queries…”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64718" y="-856369"/>
            <a:ext cx="16230600" cy="3560588"/>
          </a:xfrm>
          <a:custGeom>
            <a:avLst/>
            <a:gdLst/>
            <a:ahLst/>
            <a:cxnLst/>
            <a:rect l="l" t="t" r="r" b="b"/>
            <a:pathLst>
              <a:path w="16230600" h="3560588">
                <a:moveTo>
                  <a:pt x="0" y="0"/>
                </a:moveTo>
                <a:lnTo>
                  <a:pt x="16230600" y="0"/>
                </a:lnTo>
                <a:lnTo>
                  <a:pt x="16230600" y="3560588"/>
                </a:lnTo>
                <a:lnTo>
                  <a:pt x="0" y="3560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9525" y="-9525"/>
            <a:ext cx="18307050" cy="933450"/>
            <a:chOff x="0" y="0"/>
            <a:chExt cx="24409400" cy="1244600"/>
          </a:xfrm>
        </p:grpSpPr>
        <p:sp>
          <p:nvSpPr>
            <p:cNvPr id="4" name="Freeform 4"/>
            <p:cNvSpPr/>
            <p:nvPr/>
          </p:nvSpPr>
          <p:spPr>
            <a:xfrm>
              <a:off x="12700" y="12700"/>
              <a:ext cx="24384000" cy="1219200"/>
            </a:xfrm>
            <a:custGeom>
              <a:avLst/>
              <a:gdLst/>
              <a:ahLst/>
              <a:cxnLst/>
              <a:rect l="l" t="t" r="r" b="b"/>
              <a:pathLst>
                <a:path w="24384000" h="12192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24409400" cy="1244600"/>
            </a:xfrm>
            <a:custGeom>
              <a:avLst/>
              <a:gdLst/>
              <a:ahLst/>
              <a:cxnLst/>
              <a:rect l="l" t="t" r="r" b="b"/>
              <a:pathLst>
                <a:path w="24409400" h="12446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231900"/>
                  </a:lnTo>
                  <a:cubicBezTo>
                    <a:pt x="24409400" y="1238885"/>
                    <a:pt x="24403686" y="1244600"/>
                    <a:pt x="24396700" y="1244600"/>
                  </a:cubicBezTo>
                  <a:lnTo>
                    <a:pt x="12700" y="1244600"/>
                  </a:lnTo>
                  <a:cubicBezTo>
                    <a:pt x="5715" y="1244600"/>
                    <a:pt x="0" y="1238885"/>
                    <a:pt x="0" y="1231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31900"/>
                  </a:lnTo>
                  <a:lnTo>
                    <a:pt x="12700" y="1231900"/>
                  </a:lnTo>
                  <a:lnTo>
                    <a:pt x="12700" y="1219200"/>
                  </a:lnTo>
                  <a:lnTo>
                    <a:pt x="24396700" y="1219200"/>
                  </a:lnTo>
                  <a:lnTo>
                    <a:pt x="24396700" y="1231900"/>
                  </a:lnTo>
                  <a:lnTo>
                    <a:pt x="24384000" y="12319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F00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707981" y="2974182"/>
            <a:ext cx="4872038" cy="4512466"/>
            <a:chOff x="0" y="0"/>
            <a:chExt cx="6496050" cy="60166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96050" cy="6016625"/>
            </a:xfrm>
            <a:custGeom>
              <a:avLst/>
              <a:gdLst/>
              <a:ahLst/>
              <a:cxnLst/>
              <a:rect l="l" t="t" r="r" b="b"/>
              <a:pathLst>
                <a:path w="6496050" h="6016625">
                  <a:moveTo>
                    <a:pt x="0" y="0"/>
                  </a:moveTo>
                  <a:lnTo>
                    <a:pt x="6496050" y="0"/>
                  </a:lnTo>
                  <a:lnTo>
                    <a:pt x="6496050" y="6016625"/>
                  </a:lnTo>
                  <a:lnTo>
                    <a:pt x="0" y="6016625"/>
                  </a:lnTo>
                  <a:close/>
                </a:path>
              </a:pathLst>
            </a:custGeom>
            <a:blipFill>
              <a:blip r:embed="rId3">
                <a:alphaModFix amt="19999"/>
              </a:blip>
              <a:stretch>
                <a:fillRect t="-3984" b="-398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915900" y="9705975"/>
            <a:ext cx="4114800" cy="547688"/>
            <a:chOff x="0" y="0"/>
            <a:chExt cx="54864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39">
                  <a:solidFill>
                    <a:srgbClr val="898989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rPr>
                <a:t>8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9525" y="10184620"/>
            <a:ext cx="18297525" cy="178419"/>
            <a:chOff x="0" y="0"/>
            <a:chExt cx="4819101" cy="469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9101" cy="46991"/>
            </a:xfrm>
            <a:custGeom>
              <a:avLst/>
              <a:gdLst/>
              <a:ahLst/>
              <a:cxnLst/>
              <a:rect l="l" t="t" r="r" b="b"/>
              <a:pathLst>
                <a:path w="4819101" h="46991">
                  <a:moveTo>
                    <a:pt x="0" y="0"/>
                  </a:moveTo>
                  <a:lnTo>
                    <a:pt x="4819101" y="0"/>
                  </a:lnTo>
                  <a:lnTo>
                    <a:pt x="4819101" y="46991"/>
                  </a:lnTo>
                  <a:lnTo>
                    <a:pt x="0" y="46991"/>
                  </a:lnTo>
                  <a:close/>
                </a:path>
              </a:pathLst>
            </a:custGeom>
            <a:solidFill>
              <a:srgbClr val="C1121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4819101" cy="46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4168519" y="3949385"/>
            <a:ext cx="9950962" cy="2388231"/>
          </a:xfrm>
          <a:custGeom>
            <a:avLst/>
            <a:gdLst/>
            <a:ahLst/>
            <a:cxnLst/>
            <a:rect l="l" t="t" r="r" b="b"/>
            <a:pathLst>
              <a:path w="9950962" h="2388231">
                <a:moveTo>
                  <a:pt x="0" y="0"/>
                </a:moveTo>
                <a:lnTo>
                  <a:pt x="9950962" y="0"/>
                </a:lnTo>
                <a:lnTo>
                  <a:pt x="9950962" y="2388230"/>
                </a:lnTo>
                <a:lnTo>
                  <a:pt x="0" y="2388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9525" y="2057400"/>
            <a:ext cx="7938135" cy="8229600"/>
          </a:xfrm>
          <a:custGeom>
            <a:avLst/>
            <a:gdLst/>
            <a:ahLst/>
            <a:cxnLst/>
            <a:rect l="l" t="t" r="r" b="b"/>
            <a:pathLst>
              <a:path w="7938135" h="8229600">
                <a:moveTo>
                  <a:pt x="0" y="0"/>
                </a:moveTo>
                <a:lnTo>
                  <a:pt x="7938135" y="0"/>
                </a:lnTo>
                <a:lnTo>
                  <a:pt x="79381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2015</Words>
  <Application>Microsoft Office PowerPoint</Application>
  <PresentationFormat>Custom</PresentationFormat>
  <Paragraphs>222</Paragraphs>
  <Slides>29</Slides>
  <Notes>0</Notes>
  <HiddenSlides>0</HiddenSlides>
  <MMClips>2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Brixton Sans</vt:lpstr>
      <vt:lpstr>Cinzel Decorative Bold</vt:lpstr>
      <vt:lpstr>Cinzel Decorative</vt:lpstr>
      <vt:lpstr>Calibri</vt:lpstr>
      <vt:lpstr>Lora</vt:lpstr>
      <vt:lpstr>Brixton Sans Bold</vt:lpstr>
      <vt:lpstr>Arial</vt:lpstr>
      <vt:lpstr>Parisienne</vt:lpstr>
      <vt:lpstr>Lora Bold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Analysis and Risk Evaluation of DMart Stock Prices</dc:title>
  <cp:lastModifiedBy>shaikhmaryam31@outlook.com</cp:lastModifiedBy>
  <cp:revision>16</cp:revision>
  <dcterms:created xsi:type="dcterms:W3CDTF">2006-08-16T00:00:00Z</dcterms:created>
  <dcterms:modified xsi:type="dcterms:W3CDTF">2025-10-02T15:00:30Z</dcterms:modified>
  <dc:identifier>DAGzfBtLIa8</dc:identifier>
</cp:coreProperties>
</file>
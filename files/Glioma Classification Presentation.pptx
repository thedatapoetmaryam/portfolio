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8288000" cy="10287000"/>
  <p:notesSz cx="6858000" cy="9144000"/>
  <p:embeddedFontLst>
    <p:embeddedFont>
      <p:font typeface="Alice" panose="020B0604020202020204" charset="0"/>
      <p:regular r:id="rId23"/>
    </p:embeddedFont>
    <p:embeddedFont>
      <p:font typeface="Alice Bold" panose="020B0604020202020204" charset="0"/>
      <p:regular r:id="rId24"/>
    </p:embeddedFont>
    <p:embeddedFont>
      <p:font typeface="Bricolage Grotesque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386" y="9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49911"/>
            <a:ext cx="18288000" cy="12047220"/>
          </a:xfrm>
          <a:custGeom>
            <a:avLst/>
            <a:gdLst/>
            <a:ahLst/>
            <a:cxnLst/>
            <a:rect l="l" t="t" r="r" b="b"/>
            <a:pathLst>
              <a:path w="18288000" h="12047220">
                <a:moveTo>
                  <a:pt x="0" y="0"/>
                </a:moveTo>
                <a:lnTo>
                  <a:pt x="18288000" y="0"/>
                </a:lnTo>
                <a:lnTo>
                  <a:pt x="18288000" y="12047220"/>
                </a:lnTo>
                <a:lnTo>
                  <a:pt x="0" y="12047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26663"/>
            <a:ext cx="4297315" cy="419250"/>
          </a:xfrm>
          <a:custGeom>
            <a:avLst/>
            <a:gdLst/>
            <a:ahLst/>
            <a:cxnLst/>
            <a:rect l="l" t="t" r="r" b="b"/>
            <a:pathLst>
              <a:path w="4297315" h="419250">
                <a:moveTo>
                  <a:pt x="0" y="0"/>
                </a:moveTo>
                <a:lnTo>
                  <a:pt x="4297315" y="0"/>
                </a:lnTo>
                <a:lnTo>
                  <a:pt x="4297315" y="419250"/>
                </a:lnTo>
                <a:lnTo>
                  <a:pt x="0" y="419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45668" y="4886325"/>
            <a:ext cx="2026532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(MSAS116)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07981" y="2974181"/>
            <a:ext cx="4872038" cy="4512469"/>
            <a:chOff x="0" y="0"/>
            <a:chExt cx="6496050" cy="60166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6050" cy="6016625"/>
            </a:xfrm>
            <a:custGeom>
              <a:avLst/>
              <a:gdLst/>
              <a:ahLst/>
              <a:cxnLst/>
              <a:rect l="l" t="t" r="r" b="b"/>
              <a:pathLst>
                <a:path w="6496050" h="6016625">
                  <a:moveTo>
                    <a:pt x="0" y="0"/>
                  </a:moveTo>
                  <a:lnTo>
                    <a:pt x="6496050" y="0"/>
                  </a:lnTo>
                  <a:lnTo>
                    <a:pt x="6496050" y="6016625"/>
                  </a:lnTo>
                  <a:lnTo>
                    <a:pt x="0" y="6016625"/>
                  </a:lnTo>
                  <a:close/>
                </a:path>
              </a:pathLst>
            </a:custGeom>
            <a:blipFill>
              <a:blip r:embed="rId4">
                <a:alphaModFix amt="19999"/>
              </a:blip>
              <a:stretch>
                <a:fillRect t="-3984" b="-398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2149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07981" y="2974181"/>
            <a:ext cx="11992792" cy="8074363"/>
            <a:chOff x="0" y="0"/>
            <a:chExt cx="15990389" cy="10765818"/>
          </a:xfrm>
        </p:grpSpPr>
        <p:sp>
          <p:nvSpPr>
            <p:cNvPr id="6" name="Freeform 6"/>
            <p:cNvSpPr/>
            <p:nvPr/>
          </p:nvSpPr>
          <p:spPr>
            <a:xfrm>
              <a:off x="2656590" y="244955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404623">
              <a:off x="10523059" y="5752924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6496050" cy="6016625"/>
              <a:chOff x="0" y="0"/>
              <a:chExt cx="6496050" cy="60166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1019175"/>
            <a:ext cx="12058650" cy="351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4399" spc="-92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Understanding </a:t>
            </a:r>
            <a:r>
              <a:rPr lang="en-US" sz="4399" spc="-92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Glioma</a:t>
            </a:r>
            <a:r>
              <a:rPr lang="en-US" sz="4399" spc="-92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Through </a:t>
            </a:r>
            <a:r>
              <a:rPr lang="en-US" sz="4399" spc="-92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Gene Expression  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endParaRPr lang="en-US" sz="4399" spc="-92" dirty="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3798"/>
              </a:lnSpc>
            </a:pPr>
            <a:r>
              <a:rPr lang="en-US" sz="2899" spc="-6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Aggressive brain tumor with complex molecular behavior</a:t>
            </a:r>
          </a:p>
          <a:p>
            <a:pPr algn="l">
              <a:lnSpc>
                <a:spcPts val="3798"/>
              </a:lnSpc>
            </a:pPr>
            <a:r>
              <a:rPr lang="en-US" sz="2899" spc="-6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Diagnosis relies on histopathology</a:t>
            </a:r>
          </a:p>
          <a:p>
            <a:pPr algn="l">
              <a:lnSpc>
                <a:spcPts val="3798"/>
              </a:lnSpc>
            </a:pPr>
            <a:r>
              <a:rPr lang="en-US" sz="2899" spc="-6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Gene expression reveals deeper biological patterns</a:t>
            </a:r>
          </a:p>
          <a:p>
            <a:pPr algn="l">
              <a:lnSpc>
                <a:spcPts val="3798"/>
              </a:lnSpc>
            </a:pPr>
            <a:r>
              <a:rPr lang="en-US" sz="2899" spc="-6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Need for accurate and reliable classification</a:t>
            </a:r>
          </a:p>
          <a:p>
            <a:pPr algn="l">
              <a:lnSpc>
                <a:spcPts val="3556"/>
              </a:lnSpc>
            </a:pPr>
            <a:endParaRPr lang="en-US" sz="2899" spc="-6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12763500" cy="6125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Statistical Challenge: High-Dimensional Setting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– Number of features (p) ≈ 54,613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– Number of samples (n) = 180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– Classical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“p &gt;&gt; n”</a:t>
            </a: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problem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p = 54,613 ≫ n = 180</a:t>
            </a:r>
          </a:p>
          <a:p>
            <a:pPr algn="l">
              <a:lnSpc>
                <a:spcPts val="3770"/>
              </a:lnSpc>
            </a:pPr>
            <a:endParaRPr lang="en-US" sz="2900" dirty="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Leads to: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Overfitting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Unstable estimates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High variance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Curse of dimensionality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10513219" cy="3659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Study Objectives</a:t>
            </a:r>
          </a:p>
          <a:p>
            <a:pPr algn="l">
              <a:lnSpc>
                <a:spcPts val="3770"/>
              </a:lnSpc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Identify statistically significant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differential gene expression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Quantify magnitude using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effect size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Apply dimensionality reduction and feature selection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Compare classification models under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cross-validation</a:t>
            </a:r>
          </a:p>
          <a:p>
            <a:pPr algn="l">
              <a:lnSpc>
                <a:spcPts val="377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Ensure robustness and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Freeform 10"/>
          <p:cNvSpPr/>
          <p:nvPr/>
        </p:nvSpPr>
        <p:spPr>
          <a:xfrm>
            <a:off x="13513362" y="4427029"/>
            <a:ext cx="4348011" cy="2697671"/>
          </a:xfrm>
          <a:custGeom>
            <a:avLst/>
            <a:gdLst/>
            <a:ahLst/>
            <a:cxnLst/>
            <a:rect l="l" t="t" r="r" b="b"/>
            <a:pathLst>
              <a:path w="4348011" h="2697671">
                <a:moveTo>
                  <a:pt x="0" y="0"/>
                </a:moveTo>
                <a:lnTo>
                  <a:pt x="4348010" y="0"/>
                </a:lnTo>
                <a:lnTo>
                  <a:pt x="4348010" y="2697670"/>
                </a:lnTo>
                <a:lnTo>
                  <a:pt x="0" y="2697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46" t="-52131" r="-114476" b="-89533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513362" y="2533858"/>
            <a:ext cx="4348011" cy="1542842"/>
          </a:xfrm>
          <a:custGeom>
            <a:avLst/>
            <a:gdLst/>
            <a:ahLst/>
            <a:cxnLst/>
            <a:rect l="l" t="t" r="r" b="b"/>
            <a:pathLst>
              <a:path w="4348011" h="1542842">
                <a:moveTo>
                  <a:pt x="0" y="0"/>
                </a:moveTo>
                <a:lnTo>
                  <a:pt x="4348010" y="0"/>
                </a:lnTo>
                <a:lnTo>
                  <a:pt x="4348010" y="1542843"/>
                </a:lnTo>
                <a:lnTo>
                  <a:pt x="0" y="1542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276" t="-96028" r="-11077" b="-24100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971550"/>
            <a:ext cx="6832324" cy="4332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4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Gene Expression Dataset</a:t>
            </a:r>
          </a:p>
          <a:p>
            <a:pPr algn="l">
              <a:lnSpc>
                <a:spcPts val="3770"/>
              </a:lnSpc>
            </a:pPr>
            <a:endParaRPr lang="en-US" sz="440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Source: GEO (GSE4290)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Total Samples: </a:t>
            </a:r>
            <a:r>
              <a:rPr lang="en-US" sz="29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180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Glioma: </a:t>
            </a:r>
            <a:r>
              <a:rPr lang="en-US" sz="29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157 </a:t>
            </a: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samples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Control (Epilepsy): </a:t>
            </a:r>
            <a:r>
              <a:rPr lang="en-US" sz="29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23 </a:t>
            </a: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samples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Platform: Affymetrix GPL570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• Features: ~</a:t>
            </a:r>
            <a:r>
              <a:rPr lang="en-US" sz="29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54,613 </a:t>
            </a: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gene probes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61600" y="7280910"/>
            <a:ext cx="6074000" cy="834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112149"/>
                </a:solidFill>
                <a:latin typeface="Alice Bold"/>
                <a:ea typeface="Alice Bold"/>
                <a:cs typeface="Alice Bold"/>
                <a:sym typeface="Alice Bold"/>
              </a:rPr>
              <a:t>• Microarray-based gene expression data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112149"/>
                </a:solidFill>
                <a:latin typeface="Alice Bold"/>
                <a:ea typeface="Alice Bold"/>
                <a:cs typeface="Alice Bold"/>
                <a:sym typeface="Alice Bold"/>
              </a:rPr>
              <a:t> • Probe IDs mapped using annotation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Freeform 10"/>
          <p:cNvSpPr/>
          <p:nvPr/>
        </p:nvSpPr>
        <p:spPr>
          <a:xfrm>
            <a:off x="11814810" y="3355237"/>
            <a:ext cx="5771134" cy="4595066"/>
          </a:xfrm>
          <a:custGeom>
            <a:avLst/>
            <a:gdLst/>
            <a:ahLst/>
            <a:cxnLst/>
            <a:rect l="l" t="t" r="r" b="b"/>
            <a:pathLst>
              <a:path w="5771134" h="4595066">
                <a:moveTo>
                  <a:pt x="0" y="0"/>
                </a:moveTo>
                <a:lnTo>
                  <a:pt x="5771134" y="0"/>
                </a:lnTo>
                <a:lnTo>
                  <a:pt x="5771134" y="4595066"/>
                </a:lnTo>
                <a:lnTo>
                  <a:pt x="0" y="45950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933450"/>
            <a:ext cx="11468100" cy="4435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Differential Expression Analysis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Objective: Compare gene expression between tumor and control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Method: Welch’s two-sample t-test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Multiple testing correction: Benjamini–Hochberg (FDR)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~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29,798 </a:t>
            </a: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genes significantly different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Adjusted p-values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&lt; 1 × 10⁻⁴⁵</a:t>
            </a:r>
          </a:p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Controls false discoveries while maintaining power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45387" y="8186919"/>
            <a:ext cx="650998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Top extreme genes show both high significance and large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effect sizes, indicating strong differential expression.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10096500" cy="492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Effect Size (Cohen’s d)</a:t>
            </a:r>
          </a:p>
          <a:p>
            <a:pPr algn="l">
              <a:lnSpc>
                <a:spcPts val="3770"/>
              </a:lnSpc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Statistical significance alone is not sufficient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Measures magnitude of difference between groups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Independent of sample size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Large effect size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(|d| &gt; 2) </a:t>
            </a: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observed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Indicates strong separation between tumor and control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Cohen’s d: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  d = (x̄₁ − x̄₂) / sₚ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Freeform 10"/>
          <p:cNvSpPr/>
          <p:nvPr/>
        </p:nvSpPr>
        <p:spPr>
          <a:xfrm>
            <a:off x="11839477" y="3400579"/>
            <a:ext cx="5858667" cy="4532802"/>
          </a:xfrm>
          <a:custGeom>
            <a:avLst/>
            <a:gdLst/>
            <a:ahLst/>
            <a:cxnLst/>
            <a:rect l="l" t="t" r="r" b="b"/>
            <a:pathLst>
              <a:path w="5858667" h="4532802">
                <a:moveTo>
                  <a:pt x="0" y="0"/>
                </a:moveTo>
                <a:lnTo>
                  <a:pt x="5858667" y="0"/>
                </a:lnTo>
                <a:lnTo>
                  <a:pt x="5858667" y="4532802"/>
                </a:lnTo>
                <a:lnTo>
                  <a:pt x="0" y="45328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933450"/>
            <a:ext cx="11211520" cy="3871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Principal Component Analysis (PCA)</a:t>
            </a:r>
          </a:p>
          <a:p>
            <a:pPr algn="l">
              <a:lnSpc>
                <a:spcPts val="3770"/>
              </a:lnSpc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Reduces high-dimensional data into fewer components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Transforms correlated variables into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orthogonal components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Reduced ~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54,613 </a:t>
            </a: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genes →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149 </a:t>
            </a: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components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Retained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95% </a:t>
            </a: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of total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variance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Helps reduce noise and improve model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39477" y="8108147"/>
            <a:ext cx="5457923" cy="691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PCA projection demonstrates clear separation between tumor and control samples.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9791700" cy="390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Feature Selection: Variance Filtering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Selects genes with highest variance across samples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High-variance genes are more informative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Top 1000 most variable genes </a:t>
            </a: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selected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Reduces noise while preserving interpretability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Improves model performance and interpretability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9639300" cy="4435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Classification Models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Logistic Regression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Support Vector Machine (SVM)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Random Forest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Compared under stratified 5-fold cross-validation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Linear SVM achieved highest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298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1" name="TextBox 11"/>
          <p:cNvSpPr txBox="1"/>
          <p:nvPr/>
        </p:nvSpPr>
        <p:spPr>
          <a:xfrm>
            <a:off x="1028700" y="933450"/>
            <a:ext cx="9410700" cy="734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Model Performance Comparison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260" y="4899749"/>
            <a:ext cx="10172700" cy="485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Linear SVM achieved the highest cross-validated accuracy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1888C81-A243-83C7-465A-466D457C2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311608"/>
              </p:ext>
            </p:extLst>
          </p:nvPr>
        </p:nvGraphicFramePr>
        <p:xfrm>
          <a:off x="1146572" y="2007722"/>
          <a:ext cx="11122818" cy="2590800"/>
        </p:xfrm>
        <a:graphic>
          <a:graphicData uri="http://schemas.openxmlformats.org/drawingml/2006/table">
            <a:tbl>
              <a:tblPr/>
              <a:tblGrid>
                <a:gridCol w="3707606">
                  <a:extLst>
                    <a:ext uri="{9D8B030D-6E8A-4147-A177-3AD203B41FA5}">
                      <a16:colId xmlns:a16="http://schemas.microsoft.com/office/drawing/2014/main" val="678067927"/>
                    </a:ext>
                  </a:extLst>
                </a:gridCol>
                <a:gridCol w="3707606">
                  <a:extLst>
                    <a:ext uri="{9D8B030D-6E8A-4147-A177-3AD203B41FA5}">
                      <a16:colId xmlns:a16="http://schemas.microsoft.com/office/drawing/2014/main" val="4099766070"/>
                    </a:ext>
                  </a:extLst>
                </a:gridCol>
                <a:gridCol w="3707606">
                  <a:extLst>
                    <a:ext uri="{9D8B030D-6E8A-4147-A177-3AD203B41FA5}">
                      <a16:colId xmlns:a16="http://schemas.microsoft.com/office/drawing/2014/main" val="425992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Accuracy (Mean ± 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246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Linear 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98.9% ± 1.36%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0.996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440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97.0% ± 3.4%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195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92.0% ± 4.2%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316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RBF 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92.8% ± 3.3%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0.989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22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2388" y="933450"/>
            <a:ext cx="9112211" cy="4589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Model Evaluation Metrics</a:t>
            </a:r>
          </a:p>
          <a:p>
            <a:pPr algn="l">
              <a:lnSpc>
                <a:spcPts val="3770"/>
              </a:lnSpc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Sensitivity (TPR):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0.975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Specificity (TNR):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1.000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Sensitivity: Correctly identifies tumor samples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Specificity: Correctly identifies control samples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Indicates high classification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Freeform 10"/>
          <p:cNvSpPr/>
          <p:nvPr/>
        </p:nvSpPr>
        <p:spPr>
          <a:xfrm>
            <a:off x="11485126" y="3401826"/>
            <a:ext cx="6088990" cy="4820083"/>
          </a:xfrm>
          <a:custGeom>
            <a:avLst/>
            <a:gdLst/>
            <a:ahLst/>
            <a:cxnLst/>
            <a:rect l="l" t="t" r="r" b="b"/>
            <a:pathLst>
              <a:path w="6088990" h="4820083">
                <a:moveTo>
                  <a:pt x="0" y="0"/>
                </a:moveTo>
                <a:lnTo>
                  <a:pt x="6088990" y="0"/>
                </a:lnTo>
                <a:lnTo>
                  <a:pt x="6088990" y="4820083"/>
                </a:lnTo>
                <a:lnTo>
                  <a:pt x="0" y="4820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933450"/>
            <a:ext cx="11010900" cy="331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ROC Curve &amp; AUC</a:t>
            </a:r>
          </a:p>
          <a:p>
            <a:pPr algn="l">
              <a:lnSpc>
                <a:spcPts val="3770"/>
              </a:lnSpc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ROC curve shows trade-off between sensitivity and specificity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Evaluates model performance across different thresholds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Mean ROC-AUC: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0.996 ± 0.008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AUC close to 1 indicates excellent classification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39400" y="8451850"/>
            <a:ext cx="7800975" cy="70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All models show strong performance with curves near the top-left,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and AUC close to 1 indicates excellent classification 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11315700" cy="4961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Stability Selection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Identifies consistently selected genes across resampling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Based on L1-regularized logistic regression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Genes selected with frequency </a:t>
            </a: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≥ 0.8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Ensures robustness and reproducibility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Key genes identified: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  SOX2, MSI2, CDK17, RAB40B, PRKCZ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Selected genes show strong statistical and biological relevance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12534900" cy="3871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Interpretation of Results</a:t>
            </a:r>
          </a:p>
          <a:p>
            <a:pPr algn="l">
              <a:lnSpc>
                <a:spcPts val="3770"/>
              </a:lnSpc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Significant differential expression observed between tumor and control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Large effect sizes indicate strong separation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High classification accuracy under cross-validation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Linear SVM performed best in high-dimensional setting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Stable genes identified show biological relevance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11237955" cy="459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Limitations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440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No external validation dataset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Class imbalance (157 vs 23 samples)</a:t>
            </a:r>
          </a:p>
          <a:p>
            <a:pPr algn="l">
              <a:lnSpc>
                <a:spcPts val="2900"/>
              </a:lnSpc>
            </a:pPr>
            <a:endParaRPr lang="en-US" sz="290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Microarray platform limitations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Analysis is correlational, not causal</a:t>
            </a:r>
          </a:p>
          <a:p>
            <a:pPr algn="l">
              <a:lnSpc>
                <a:spcPts val="2900"/>
              </a:lnSpc>
            </a:pPr>
            <a:endParaRPr lang="en-US" sz="290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Tumor subtypes aggregated into one class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13068300" cy="4961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Conclusion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Gene expression data shows strong separation between tumor and control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Significant differential expression with large effect sizes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Linear SVM achieved highest performance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High accuracy and ROC-AUC indicate reliable classification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Identified stable and biologically relevant genes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Results demonstrate structured and reproducible patterns in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high-dimensional gene expression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028700" y="933450"/>
            <a:ext cx="9944100" cy="3871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Future Work</a:t>
            </a:r>
          </a:p>
          <a:p>
            <a:pPr algn="l">
              <a:lnSpc>
                <a:spcPts val="3770"/>
              </a:lnSpc>
            </a:pPr>
            <a:endParaRPr lang="en-US" sz="44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Validation using independent datasets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Use of RNA-sequencing data for improved accuracy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Subtype-specific classification of glioma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Integration of multi-omics data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• Pathway and gene set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9B6A-75DD-2CA4-32BE-710637FD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65E9202-A0E8-902C-8833-D6DBF68F19EF}"/>
              </a:ext>
            </a:extLst>
          </p:cNvPr>
          <p:cNvGrpSpPr/>
          <p:nvPr/>
        </p:nvGrpSpPr>
        <p:grpSpPr>
          <a:xfrm>
            <a:off x="-9525" y="-9525"/>
            <a:ext cx="18307050" cy="933450"/>
            <a:chOff x="0" y="0"/>
            <a:chExt cx="24409400" cy="12446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313D18E-E789-8005-9385-588764486A2A}"/>
                </a:ext>
              </a:extLst>
            </p:cNvPr>
            <p:cNvSpPr/>
            <p:nvPr/>
          </p:nvSpPr>
          <p:spPr>
            <a:xfrm>
              <a:off x="12700" y="1270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12149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E48A9C6-79A6-2E88-8F71-A10734777DAC}"/>
                </a:ext>
              </a:extLst>
            </p:cNvPr>
            <p:cNvSpPr/>
            <p:nvPr/>
          </p:nvSpPr>
          <p:spPr>
            <a:xfrm>
              <a:off x="0" y="0"/>
              <a:ext cx="24409400" cy="1244600"/>
            </a:xfrm>
            <a:custGeom>
              <a:avLst/>
              <a:gdLst/>
              <a:ahLst/>
              <a:cxnLst/>
              <a:rect l="l" t="t" r="r" b="b"/>
              <a:pathLst>
                <a:path w="24409400" h="12446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231900"/>
                  </a:lnTo>
                  <a:cubicBezTo>
                    <a:pt x="24409400" y="1238885"/>
                    <a:pt x="24403686" y="1244600"/>
                    <a:pt x="24396700" y="1244600"/>
                  </a:cubicBezTo>
                  <a:lnTo>
                    <a:pt x="12700" y="1244600"/>
                  </a:lnTo>
                  <a:cubicBezTo>
                    <a:pt x="5715" y="1244600"/>
                    <a:pt x="0" y="1238885"/>
                    <a:pt x="0" y="1231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31900"/>
                  </a:lnTo>
                  <a:lnTo>
                    <a:pt x="12700" y="1231900"/>
                  </a:lnTo>
                  <a:lnTo>
                    <a:pt x="12700" y="1219200"/>
                  </a:lnTo>
                  <a:lnTo>
                    <a:pt x="24396700" y="1219200"/>
                  </a:lnTo>
                  <a:lnTo>
                    <a:pt x="24396700" y="1231900"/>
                  </a:lnTo>
                  <a:lnTo>
                    <a:pt x="24384000" y="12319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F0000"/>
            </a:solidFill>
          </p:spPr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F437ABE-2174-77E0-0396-C33EA1F0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2"/>
          <a:stretch>
            <a:fillRect/>
          </a:stretch>
        </p:blipFill>
        <p:spPr>
          <a:xfrm>
            <a:off x="0" y="190500"/>
            <a:ext cx="18288000" cy="101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53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710298" cy="11058069"/>
            <a:chOff x="0" y="0"/>
            <a:chExt cx="24947064" cy="14744093"/>
          </a:xfrm>
        </p:grpSpPr>
        <p:sp>
          <p:nvSpPr>
            <p:cNvPr id="3" name="Freeform 3"/>
            <p:cNvSpPr/>
            <p:nvPr/>
          </p:nvSpPr>
          <p:spPr>
            <a:xfrm>
              <a:off x="11613265" y="4223230"/>
              <a:ext cx="13333799" cy="9542000"/>
            </a:xfrm>
            <a:custGeom>
              <a:avLst/>
              <a:gdLst/>
              <a:ahLst/>
              <a:cxnLst/>
              <a:rect l="l" t="t" r="r" b="b"/>
              <a:pathLst>
                <a:path w="13333799" h="9542000">
                  <a:moveTo>
                    <a:pt x="0" y="0"/>
                  </a:moveTo>
                  <a:lnTo>
                    <a:pt x="13333799" y="0"/>
                  </a:lnTo>
                  <a:lnTo>
                    <a:pt x="13333799" y="9542000"/>
                  </a:lnTo>
                  <a:lnTo>
                    <a:pt x="0" y="954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04623">
              <a:off x="19479734" y="9731199"/>
              <a:ext cx="5081241" cy="4923817"/>
            </a:xfrm>
            <a:custGeom>
              <a:avLst/>
              <a:gdLst/>
              <a:ahLst/>
              <a:cxnLst/>
              <a:rect l="l" t="t" r="r" b="b"/>
              <a:pathLst>
                <a:path w="5081241" h="4923817">
                  <a:moveTo>
                    <a:pt x="0" y="1811716"/>
                  </a:moveTo>
                  <a:lnTo>
                    <a:pt x="1637012" y="0"/>
                  </a:lnTo>
                  <a:lnTo>
                    <a:pt x="5081242" y="3112101"/>
                  </a:lnTo>
                  <a:lnTo>
                    <a:pt x="3444230" y="4923817"/>
                  </a:lnTo>
                  <a:lnTo>
                    <a:pt x="0" y="1811716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245545" t="-2485" r="-60446" b="-7245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8956675" y="3978275"/>
              <a:ext cx="6496050" cy="6016625"/>
              <a:chOff x="0" y="0"/>
              <a:chExt cx="6496050" cy="6016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96050" cy="6016625"/>
              </a:xfrm>
              <a:custGeom>
                <a:avLst/>
                <a:gdLst/>
                <a:ahLst/>
                <a:cxnLst/>
                <a:rect l="l" t="t" r="r" b="b"/>
                <a:pathLst>
                  <a:path w="6496050" h="6016625">
                    <a:moveTo>
                      <a:pt x="0" y="0"/>
                    </a:moveTo>
                    <a:lnTo>
                      <a:pt x="6496050" y="0"/>
                    </a:lnTo>
                    <a:lnTo>
                      <a:pt x="6496050" y="6016625"/>
                    </a:lnTo>
                    <a:lnTo>
                      <a:pt x="0" y="6016625"/>
                    </a:lnTo>
                    <a:close/>
                  </a:path>
                </a:pathLst>
              </a:custGeom>
              <a:blipFill>
                <a:blip r:embed="rId4">
                  <a:alphaModFix amt="13999"/>
                </a:blip>
                <a:stretch>
                  <a:fillRect t="-3984" b="-3984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24409400" cy="1244600"/>
              <a:chOff x="0" y="0"/>
              <a:chExt cx="24409400" cy="1244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243840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92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12149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24409400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24409400" h="1244600">
                    <a:moveTo>
                      <a:pt x="12700" y="0"/>
                    </a:moveTo>
                    <a:lnTo>
                      <a:pt x="24396700" y="0"/>
                    </a:lnTo>
                    <a:cubicBezTo>
                      <a:pt x="24403686" y="0"/>
                      <a:pt x="24409400" y="5715"/>
                      <a:pt x="24409400" y="12700"/>
                    </a:cubicBezTo>
                    <a:lnTo>
                      <a:pt x="24409400" y="1231900"/>
                    </a:lnTo>
                    <a:cubicBezTo>
                      <a:pt x="24409400" y="1238885"/>
                      <a:pt x="24403686" y="1244600"/>
                      <a:pt x="24396700" y="1244600"/>
                    </a:cubicBezTo>
                    <a:lnTo>
                      <a:pt x="12700" y="1244600"/>
                    </a:lnTo>
                    <a:cubicBezTo>
                      <a:pt x="5715" y="1244600"/>
                      <a:pt x="0" y="1238885"/>
                      <a:pt x="0" y="12319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1231900"/>
                    </a:lnTo>
                    <a:lnTo>
                      <a:pt x="12700" y="1231900"/>
                    </a:lnTo>
                    <a:lnTo>
                      <a:pt x="12700" y="1219200"/>
                    </a:lnTo>
                    <a:lnTo>
                      <a:pt x="24396700" y="1219200"/>
                    </a:lnTo>
                    <a:lnTo>
                      <a:pt x="24396700" y="1231900"/>
                    </a:lnTo>
                    <a:lnTo>
                      <a:pt x="24384000" y="1231900"/>
                    </a:lnTo>
                    <a:lnTo>
                      <a:pt x="24384000" y="12700"/>
                    </a:lnTo>
                    <a:lnTo>
                      <a:pt x="24396700" y="12700"/>
                    </a:lnTo>
                    <a:lnTo>
                      <a:pt x="2439670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2F0000"/>
              </a:solidFill>
            </p:spPr>
          </p:sp>
        </p:grpSp>
      </p:grpSp>
      <p:sp>
        <p:nvSpPr>
          <p:cNvPr id="10" name="Freeform 10"/>
          <p:cNvSpPr/>
          <p:nvPr/>
        </p:nvSpPr>
        <p:spPr>
          <a:xfrm>
            <a:off x="5821553" y="2398257"/>
            <a:ext cx="6644895" cy="5490485"/>
          </a:xfrm>
          <a:custGeom>
            <a:avLst/>
            <a:gdLst/>
            <a:ahLst/>
            <a:cxnLst/>
            <a:rect l="l" t="t" r="r" b="b"/>
            <a:pathLst>
              <a:path w="6644895" h="5490485">
                <a:moveTo>
                  <a:pt x="0" y="0"/>
                </a:moveTo>
                <a:lnTo>
                  <a:pt x="6644894" y="0"/>
                </a:lnTo>
                <a:lnTo>
                  <a:pt x="6644894" y="5490486"/>
                </a:lnTo>
                <a:lnTo>
                  <a:pt x="0" y="5490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796</Words>
  <Application>Microsoft Office PowerPoint</Application>
  <PresentationFormat>Custom</PresentationFormat>
  <Paragraphs>153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Alice Bold</vt:lpstr>
      <vt:lpstr>Bricolage Grotesque</vt:lpstr>
      <vt:lpstr>Calibri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MSAS116</dc:title>
  <cp:lastModifiedBy>shaikhmaryam31@outlook.com</cp:lastModifiedBy>
  <cp:revision>3</cp:revision>
  <dcterms:created xsi:type="dcterms:W3CDTF">2006-08-16T00:00:00Z</dcterms:created>
  <dcterms:modified xsi:type="dcterms:W3CDTF">2026-04-12T22:10:52Z</dcterms:modified>
  <dc:identifier>DAHGjxCpIfY</dc:identifier>
</cp:coreProperties>
</file>